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2" r:id="rId4"/>
    <p:sldId id="263" r:id="rId5"/>
    <p:sldId id="269" r:id="rId6"/>
    <p:sldId id="264" r:id="rId7"/>
    <p:sldId id="274" r:id="rId8"/>
    <p:sldId id="275" r:id="rId9"/>
    <p:sldId id="276" r:id="rId10"/>
    <p:sldId id="265" r:id="rId11"/>
    <p:sldId id="266" r:id="rId12"/>
    <p:sldId id="258" r:id="rId13"/>
    <p:sldId id="267" r:id="rId14"/>
    <p:sldId id="270" r:id="rId15"/>
    <p:sldId id="271" r:id="rId16"/>
    <p:sldId id="272" r:id="rId17"/>
    <p:sldId id="273" r:id="rId18"/>
    <p:sldId id="268" r:id="rId19"/>
  </p:sldIdLst>
  <p:sldSz cx="12192000" cy="6858000"/>
  <p:notesSz cx="6858000" cy="9144000"/>
  <p:defaultTextStyle>
    <a:defPPr>
      <a:defRPr lang="aa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5"/>
    <p:restoredTop sz="94613"/>
  </p:normalViewPr>
  <p:slideViewPr>
    <p:cSldViewPr snapToGrid="0">
      <p:cViewPr varScale="1">
        <p:scale>
          <a:sx n="81" d="100"/>
          <a:sy n="81" d="100"/>
        </p:scale>
        <p:origin x="3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D8452D-9635-0C4E-AF45-B97DED45967D}" type="datetimeFigureOut">
              <a:rPr lang="aa-ET" smtClean="0"/>
              <a:t>21/10/2024</a:t>
            </a:fld>
            <a:endParaRPr lang="aa-E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a-E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a-E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21EF5D-73F5-484B-BB18-CA6DA1D7FE32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853256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1EF5D-73F5-484B-BB18-CA6DA1D7FE32}" type="slidenum">
              <a:rPr lang="aa-ET" smtClean="0"/>
              <a:t>3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718077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A270A8A-D7EE-858B-CBDB-FAF5D3CC0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aa-ET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13CDDE3-4AC5-06E9-0B56-D91F535B9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82F3F6D-C970-8640-5824-4318C0F70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EFB5-E150-444F-8FBA-8B721DBE5410}" type="datetimeFigureOut">
              <a:rPr lang="aa-ET" smtClean="0"/>
              <a:t>21/10/2024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9C455CB-BE97-763A-08FD-61153CBB8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3D1CC32-E87B-4C6B-B4F1-EB2A7FBF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2ECF2-D9E1-264C-BAAF-3AA460CE15B1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82431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2944A2-950A-EEF7-3669-97BE49D8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a-ET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8669A02-2B98-6EA3-E874-9FAC00083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AAFBD5F-33FE-0C2E-D854-2218F90AD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EFB5-E150-444F-8FBA-8B721DBE5410}" type="datetimeFigureOut">
              <a:rPr lang="aa-ET" smtClean="0"/>
              <a:t>21/10/2024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013B026-2353-1634-FE26-5771F2A2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DFBD80C-D041-99C7-B98F-4F584ABF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2ECF2-D9E1-264C-BAAF-3AA460CE15B1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73458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2495DC6-E827-572A-33ED-6EA4F93CA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aa-ET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FB57434-AA32-C462-F521-393E40742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72A2FB2-9F10-3161-C8BC-AE4395B88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EFB5-E150-444F-8FBA-8B721DBE5410}" type="datetimeFigureOut">
              <a:rPr lang="aa-ET" smtClean="0"/>
              <a:t>21/10/2024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CA524AB-8015-1CD4-DD29-066776A32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9D2816A-BE41-A3B4-6471-B788A2B94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2ECF2-D9E1-264C-BAAF-3AA460CE15B1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30653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769C399-8690-70C1-981F-B9ACA11FA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a-ET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4D2A069-7F67-7B30-9FB1-A3354F94F6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a-ET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95CF85A-A78C-F4BD-9986-1679460D1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a-ET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19A79B3-4A3C-E0D5-A26B-32C1A2157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EFB5-E150-444F-8FBA-8B721DBE5410}" type="datetimeFigureOut">
              <a:rPr lang="aa-ET" smtClean="0"/>
              <a:t>21/10/2024</a:t>
            </a:fld>
            <a:endParaRPr lang="aa-ET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DBCD4C4-9AFB-1966-CA8F-FAE6E1AEB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F48BC4E-2988-65E8-1565-01129A65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2ECF2-D9E1-264C-BAAF-3AA460CE15B1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70998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821BE6-5948-F09D-F7B2-D66F2138F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aa-ET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4BD4B53-89C2-5B98-26A5-D6B5956BE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4E42F20-B864-C67E-F458-B9C340C02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a-ET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21939A5E-0366-BB8E-7CB9-914B177F79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D0A6C5B-3C0A-DD4F-E892-00FE2F07B2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a-ET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545A5696-A1B7-DB2E-2760-95FDB9A3B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EFB5-E150-444F-8FBA-8B721DBE5410}" type="datetimeFigureOut">
              <a:rPr lang="aa-ET" smtClean="0"/>
              <a:t>21/10/2024</a:t>
            </a:fld>
            <a:endParaRPr lang="aa-ET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C16C00CF-F8AE-B687-C495-4CA12B48D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4597EED9-32F1-772E-396E-4BA79B834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2ECF2-D9E1-264C-BAAF-3AA460CE15B1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843293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B31EB2C-054A-8172-8C4A-B00A13FA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a-ET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06437E4-75DB-59DC-A7CD-A43C1F754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EFB5-E150-444F-8FBA-8B721DBE5410}" type="datetimeFigureOut">
              <a:rPr lang="aa-ET" smtClean="0"/>
              <a:t>21/10/2024</a:t>
            </a:fld>
            <a:endParaRPr lang="aa-ET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BC59E1A-9B2F-787E-864C-E073F6631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AE89252-0DBB-8BBB-BDF7-5226CE55C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2ECF2-D9E1-264C-BAAF-3AA460CE15B1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624413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8331E3E7-24E0-786C-D309-F60B44D6F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EFB5-E150-444F-8FBA-8B721DBE5410}" type="datetimeFigureOut">
              <a:rPr lang="aa-ET" smtClean="0"/>
              <a:t>21/10/2024</a:t>
            </a:fld>
            <a:endParaRPr lang="aa-ET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DB17921-68C6-FCE8-641F-86AA2BA17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29C9DB9-871D-B9AA-5479-9A63E2B21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2ECF2-D9E1-264C-BAAF-3AA460CE15B1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2074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FE4029B-F875-126C-9DFD-704006DFD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aa-ET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646001E-1599-2498-9601-68E5DAC69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a-ET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748F7A7-5F64-065A-4D68-961669A8E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743345C-F1B2-0037-F44D-5D8B2D097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EFB5-E150-444F-8FBA-8B721DBE5410}" type="datetimeFigureOut">
              <a:rPr lang="aa-ET" smtClean="0"/>
              <a:t>21/10/2024</a:t>
            </a:fld>
            <a:endParaRPr lang="aa-ET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0F271A0-6AF2-B371-858D-A556CA1DE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7AB2242-27F3-1C55-5CA2-84708F32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2ECF2-D9E1-264C-BAAF-3AA460CE15B1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985262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0C77D5-06DB-EE0A-E8E7-D36B26B82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aa-ET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DBD5BF5E-5D39-DD67-E818-9C1EC7AC23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a-ET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5E824C2-6F34-3D11-C8E1-851948F13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9AA4B3B-E19F-D33B-DC19-70431DDF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EFB5-E150-444F-8FBA-8B721DBE5410}" type="datetimeFigureOut">
              <a:rPr lang="aa-ET" smtClean="0"/>
              <a:t>21/10/2024</a:t>
            </a:fld>
            <a:endParaRPr lang="aa-ET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4120846-5C0E-1709-0666-65FA63F01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13B4AD2-DBEA-04FC-A7B8-882C9A620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2ECF2-D9E1-264C-BAAF-3AA460CE15B1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816908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4D3549-E6CD-CC9B-E61D-2F85287EA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a-ET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EF73710-0A10-6EBC-3605-0A3C58415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AC76134-42A3-91F2-2FEC-BE8B1C1E8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EFB5-E150-444F-8FBA-8B721DBE5410}" type="datetimeFigureOut">
              <a:rPr lang="aa-ET" smtClean="0"/>
              <a:t>21/10/2024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DD83707-C112-4EDC-64A9-95A3B9C8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43E5262-197E-A85C-5D91-3076759A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2ECF2-D9E1-264C-BAAF-3AA460CE15B1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00381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311AA5F3-E077-97F1-5DEF-64926837D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aa-ET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BD2F7EC-DB34-93AB-03DA-BC84FB9E6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1FC6DF9-88D4-E10B-9C06-5C16F02E6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EFB5-E150-444F-8FBA-8B721DBE5410}" type="datetimeFigureOut">
              <a:rPr lang="aa-ET" smtClean="0"/>
              <a:t>21/10/2024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25BEE28-DE6B-FB14-D1D0-8F6E7B7EB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9C9459E-FD50-C734-5D47-F6D3E247F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2ECF2-D9E1-264C-BAAF-3AA460CE15B1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532657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0BB6FB19-0125-06AD-6DCF-D37765B71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aa-ET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2334CB0-D9BE-E45B-42AD-5F26E7E14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E091CC5-5F8E-B9D2-0092-805E67140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55EFB5-E150-444F-8FBA-8B721DBE5410}" type="datetimeFigureOut">
              <a:rPr lang="aa-ET" smtClean="0"/>
              <a:t>21/10/2024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61D9FF9-8184-C90C-A238-70D1CADF11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F25E739-4806-3109-6CF8-F4AEDBC6E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2ECF2-D9E1-264C-BAAF-3AA460CE15B1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88691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a-E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1B95B02-BC9A-22F2-03C5-02B778CF3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8193" y="1122363"/>
            <a:ext cx="10615613" cy="2387600"/>
          </a:xfrm>
        </p:spPr>
        <p:txBody>
          <a:bodyPr>
            <a:noAutofit/>
          </a:bodyPr>
          <a:lstStyle/>
          <a:p>
            <a:r>
              <a:rPr lang="en-GB" sz="6600" b="1" dirty="0">
                <a:latin typeface="Poppins" pitchFamily="2" charset="77"/>
                <a:cs typeface="Poppins" pitchFamily="2" charset="77"/>
              </a:rPr>
              <a:t>Introduction to Pandas</a:t>
            </a:r>
            <a:endParaRPr lang="aa-ET" sz="6600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D7BE409-D04F-8C08-6F09-3F12DEC4A4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12235"/>
            <a:ext cx="9144000" cy="518270"/>
          </a:xfrm>
        </p:spPr>
        <p:txBody>
          <a:bodyPr>
            <a:normAutofit/>
          </a:bodyPr>
          <a:lstStyle/>
          <a:p>
            <a:r>
              <a:rPr lang="en-GB" dirty="0">
                <a:latin typeface="Poppins" pitchFamily="2" charset="77"/>
                <a:cs typeface="Poppins" pitchFamily="2" charset="77"/>
              </a:rPr>
              <a:t>Fundamentals of Data Handling with Pandas</a:t>
            </a:r>
            <a:endParaRPr lang="aa-ET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16401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FF0FF2-4627-7FD4-F70A-9EB51FCA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Poppins" pitchFamily="2" charset="77"/>
                <a:cs typeface="Poppins" pitchFamily="2" charset="77"/>
              </a:rPr>
              <a:t>What is Pandas?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D81E503-20AD-948B-E4FF-51A5CC402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Pandas is a powerful data analysis and manipulation library for Python.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Used for data cleaning, transformation, and analysis.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Poppins" pitchFamily="2" charset="77"/>
                <a:cs typeface="Poppins" pitchFamily="2" charset="77"/>
              </a:rPr>
              <a:t>Why use Pandas?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Easy to handle structured data (like tables).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Provides data manipulation tools (filtering, grouping, merging).</a:t>
            </a:r>
          </a:p>
        </p:txBody>
      </p:sp>
    </p:spTree>
    <p:extLst>
      <p:ext uri="{BB962C8B-B14F-4D97-AF65-F5344CB8AC3E}">
        <p14:creationId xmlns:p14="http://schemas.microsoft.com/office/powerpoint/2010/main" val="3331564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34B6C0A-0420-38F5-09E7-699A7C61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30975A-B4FB-07BA-5E45-6AF0466F1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Poppins" pitchFamily="2" charset="77"/>
                <a:cs typeface="Poppins" pitchFamily="2" charset="77"/>
              </a:rPr>
              <a:t>Installing Pandas</a:t>
            </a:r>
            <a:endParaRPr lang="aa-ET" sz="4000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B010180-7ACA-2EBC-B6DE-74CCD49E6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Activate Virtual Environment </a:t>
            </a:r>
            <a:r>
              <a:rPr lang="en-GB" dirty="0">
                <a:solidFill>
                  <a:srgbClr val="0432FF"/>
                </a:solidFill>
                <a:latin typeface="Poppins" pitchFamily="2" charset="77"/>
                <a:cs typeface="Poppins" pitchFamily="2" charset="77"/>
              </a:rPr>
              <a:t>(Best Practice)</a:t>
            </a:r>
            <a:r>
              <a:rPr lang="en-GB" dirty="0">
                <a:latin typeface="Poppins" pitchFamily="2" charset="77"/>
                <a:cs typeface="Poppins" pitchFamily="2" charset="7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Installation Command: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dirty="0">
                <a:solidFill>
                  <a:srgbClr val="0432FF"/>
                </a:solidFill>
                <a:latin typeface="Poppins" pitchFamily="2" charset="77"/>
                <a:cs typeface="Poppins" pitchFamily="2" charset="77"/>
              </a:rPr>
              <a:t>pip install pandas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The terminal will start the installation.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Once the installation is finished, use the testing code to test the functionality of the library.</a:t>
            </a:r>
          </a:p>
          <a:p>
            <a:pPr>
              <a:lnSpc>
                <a:spcPct val="150000"/>
              </a:lnSpc>
            </a:pPr>
            <a:endParaRPr lang="en-GB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50429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555DC6A-3B7B-FF04-00CC-6396E70DD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26F6B3-006D-7D1B-3419-634312B9D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Poppins" pitchFamily="2" charset="77"/>
                <a:cs typeface="Poppins" pitchFamily="2" charset="77"/>
              </a:rPr>
              <a:t>Pandas Data Structures</a:t>
            </a:r>
            <a:endParaRPr lang="aa-ET" b="1" dirty="0">
              <a:solidFill>
                <a:srgbClr val="0432FF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7EBE52C-5AE2-A665-3BB4-445D711F8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1. Series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One-dimensional </a:t>
            </a:r>
            <a:r>
              <a:rPr lang="en-GB" dirty="0" err="1">
                <a:latin typeface="Poppins" pitchFamily="2" charset="77"/>
                <a:cs typeface="Poppins" pitchFamily="2" charset="77"/>
              </a:rPr>
              <a:t>labeled</a:t>
            </a:r>
            <a:r>
              <a:rPr lang="en-GB" dirty="0">
                <a:latin typeface="Poppins" pitchFamily="2" charset="77"/>
                <a:cs typeface="Poppins" pitchFamily="2" charset="77"/>
              </a:rPr>
              <a:t> array.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Similar to a list but with labels (index).</a:t>
            </a:r>
          </a:p>
          <a:p>
            <a:pPr marL="0" indent="0">
              <a:lnSpc>
                <a:spcPct val="150000"/>
              </a:lnSpc>
              <a:buNone/>
            </a:pPr>
            <a:endParaRPr lang="aa-ET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0E3EAB0-9D5F-163B-D221-2D80637A6A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40792" y="3999916"/>
            <a:ext cx="7110416" cy="217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52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CA06364-1B91-C97F-BBBB-5A5474256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2A3779-1497-5554-0E01-A7ABB4C41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Poppins" pitchFamily="2" charset="77"/>
                <a:cs typeface="Poppins" pitchFamily="2" charset="77"/>
              </a:rPr>
              <a:t>Pandas Data Structures</a:t>
            </a:r>
            <a:endParaRPr lang="aa-ET" b="1" dirty="0">
              <a:solidFill>
                <a:srgbClr val="0432FF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D1D5581-4447-4399-D13E-8D0EDCD0A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2. </a:t>
            </a:r>
            <a:r>
              <a:rPr lang="en-GB" dirty="0" err="1">
                <a:latin typeface="Poppins" pitchFamily="2" charset="77"/>
                <a:cs typeface="Poppins" pitchFamily="2" charset="77"/>
              </a:rPr>
              <a:t>DataFrame</a:t>
            </a:r>
            <a:endParaRPr lang="en-GB" dirty="0">
              <a:latin typeface="Poppins" pitchFamily="2" charset="77"/>
              <a:cs typeface="Poppins" pitchFamily="2" charset="77"/>
            </a:endParaRPr>
          </a:p>
          <a:p>
            <a:pPr lvl="1"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Two-dimensional, like a table with rows and columns.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Poppins" pitchFamily="2" charset="77"/>
              <a:cs typeface="Poppins" pitchFamily="2" charset="77"/>
            </a:endParaRPr>
          </a:p>
          <a:p>
            <a:pPr marL="0" indent="0">
              <a:lnSpc>
                <a:spcPct val="150000"/>
              </a:lnSpc>
              <a:buNone/>
            </a:pPr>
            <a:endParaRPr lang="aa-ET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622E733-A009-D28A-42E0-A17AB8A3C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40792" y="3561907"/>
            <a:ext cx="7110416" cy="187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32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84771AA-CE1A-1EEB-C7FA-A624E494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5AD829-63AA-7384-8F16-526D2C2F1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Poppins" pitchFamily="2" charset="77"/>
                <a:cs typeface="Poppins" pitchFamily="2" charset="77"/>
              </a:rPr>
              <a:t>Reading Data</a:t>
            </a:r>
            <a:endParaRPr lang="aa-ET" sz="4000" b="1" dirty="0">
              <a:solidFill>
                <a:srgbClr val="0432FF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B269BEB-75C0-6DB9-A0B7-8EFC1B9BD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Reading CSV Files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endParaRPr lang="en-GB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Reading Excel Files</a:t>
            </a:r>
          </a:p>
          <a:p>
            <a:pPr>
              <a:lnSpc>
                <a:spcPct val="150000"/>
              </a:lnSpc>
            </a:pPr>
            <a:endParaRPr lang="en-GB" dirty="0">
              <a:solidFill>
                <a:srgbClr val="0432FF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E6F5E65-7413-60B7-4C25-26B588035F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90656" y="2753131"/>
            <a:ext cx="4010686" cy="12743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DF77DC3-4253-EBB7-250D-092F50B6F2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0656" y="5044234"/>
            <a:ext cx="4010686" cy="126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106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5585" t="26136" r="25487" b="16520"/>
          <a:stretch/>
        </p:blipFill>
        <p:spPr>
          <a:xfrm>
            <a:off x="390487" y="498764"/>
            <a:ext cx="11623377" cy="635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98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9120" t="30273" r="22935" b="8065"/>
          <a:stretch/>
        </p:blipFill>
        <p:spPr>
          <a:xfrm>
            <a:off x="676893" y="122465"/>
            <a:ext cx="10592789" cy="655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66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5779" t="28297" r="22078" b="6274"/>
          <a:stretch/>
        </p:blipFill>
        <p:spPr>
          <a:xfrm>
            <a:off x="139509" y="95003"/>
            <a:ext cx="12052491" cy="67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110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1368A28-354F-5EF5-05B0-8141EF86A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246BA7F-A4A5-7834-666C-062378E70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Poppins" pitchFamily="2" charset="77"/>
                <a:cs typeface="Poppins" pitchFamily="2" charset="77"/>
              </a:rPr>
              <a:t>Data Exploration</a:t>
            </a:r>
            <a:endParaRPr lang="aa-ET" sz="4000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86B5F80-3BAD-25CB-190D-D57324031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Basic Info and Summary</a:t>
            </a:r>
          </a:p>
          <a:p>
            <a:pPr>
              <a:lnSpc>
                <a:spcPct val="150000"/>
              </a:lnSpc>
            </a:pPr>
            <a:endParaRPr lang="en-GB" dirty="0">
              <a:latin typeface="Poppins" pitchFamily="2" charset="77"/>
              <a:cs typeface="Poppins" pitchFamily="2" charset="77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Viewing Data</a:t>
            </a:r>
          </a:p>
          <a:p>
            <a:pPr>
              <a:lnSpc>
                <a:spcPct val="150000"/>
              </a:lnSpc>
            </a:pPr>
            <a:endParaRPr lang="en-GB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4506E76-8612-0A4E-0ECF-EB26496A79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70887" y="2691752"/>
            <a:ext cx="4650225" cy="13301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F5D3DC6-63C1-05EE-5A13-4994F3C804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70887" y="4887987"/>
            <a:ext cx="4650225" cy="170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83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C8D6441-56DA-CA79-0557-6CFECAF23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7A13707-CA24-8645-7E0E-6A297838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Poppins" pitchFamily="2" charset="77"/>
                <a:cs typeface="Poppins" pitchFamily="2" charset="77"/>
              </a:rPr>
              <a:t>Selecting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105A109-9389-3F16-30DB-963437868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latin typeface="Poppins" pitchFamily="2" charset="77"/>
                <a:cs typeface="Poppins" pitchFamily="2" charset="77"/>
              </a:rPr>
              <a:t>Selecting Columns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Selecting Rows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Filtering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785267A-3AF3-F3EA-A808-5DB95775D4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67616" y="1490875"/>
            <a:ext cx="4153163" cy="14951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645E17C-0BBB-4325-8D93-FEB358EC06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82688" y="3240556"/>
            <a:ext cx="4153163" cy="13409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C84EDFF-7A51-BCCE-1FDC-62A8308D8A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97762" y="4836030"/>
            <a:ext cx="4123017" cy="148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59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6D23E52-3A8D-3407-CE98-532BD6CA3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CA90026-3F12-8154-FEF6-94E008FA9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Poppins" pitchFamily="2" charset="77"/>
                <a:cs typeface="Poppins" pitchFamily="2" charset="77"/>
              </a:rPr>
              <a:t> Data Cleaning</a:t>
            </a:r>
            <a:endParaRPr lang="aa-ET" sz="4000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CBF9703-E2A6-8530-706E-59CDE5BE7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Handling Missing Data</a:t>
            </a:r>
          </a:p>
          <a:p>
            <a:pPr>
              <a:lnSpc>
                <a:spcPct val="150000"/>
              </a:lnSpc>
            </a:pPr>
            <a:endParaRPr lang="en-GB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endParaRPr lang="en-GB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Renaming Columns</a:t>
            </a:r>
          </a:p>
          <a:p>
            <a:pPr>
              <a:lnSpc>
                <a:spcPct val="150000"/>
              </a:lnSpc>
            </a:pPr>
            <a:endParaRPr lang="aa-ET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0DE24E6-AF19-0E1A-958B-97362DF7A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559721" y="2710336"/>
            <a:ext cx="5072558" cy="12523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B454CE1-5962-37B7-592F-484636E702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59721" y="5086827"/>
            <a:ext cx="5072558" cy="116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458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6E9953D-C3ED-B9CB-7CAF-EE8AC1A35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55132B3-55D0-396C-E45B-7F664B13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Poppins" pitchFamily="2" charset="77"/>
                <a:cs typeface="Poppins" pitchFamily="2" charset="77"/>
              </a:rPr>
              <a:t>Data Manipulation</a:t>
            </a:r>
            <a:endParaRPr lang="aa-ET" sz="4000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7BF86EB-F3AF-7C19-BD27-EC60FDF85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Sorting Data</a:t>
            </a:r>
          </a:p>
          <a:p>
            <a:pPr>
              <a:lnSpc>
                <a:spcPct val="150000"/>
              </a:lnSpc>
            </a:pPr>
            <a:endParaRPr lang="en-GB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endParaRPr lang="en-GB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Adding a New Column</a:t>
            </a:r>
            <a:endParaRPr lang="aa-ET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endParaRPr lang="en-GB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533B253-79E6-7D6E-FA14-94048D9649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400653" y="2594757"/>
            <a:ext cx="5380578" cy="12884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30C0154-99AA-9585-A55F-92DE566A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00653" y="4994304"/>
            <a:ext cx="5390692" cy="149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36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F77E65-5B89-4179-A7F5-BDDBCDF2B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AEA2E4-DB88-ACBD-557B-149E9590E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Poppins" pitchFamily="2" charset="77"/>
                <a:cs typeface="Poppins" pitchFamily="2" charset="77"/>
              </a:rPr>
              <a:t>Grouping and Aggregating Data</a:t>
            </a:r>
            <a:endParaRPr lang="aa-ET" sz="4000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939DBE6-ED9C-A27F-F32A-74D33D812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Grouping by a Column</a:t>
            </a:r>
          </a:p>
          <a:p>
            <a:pPr>
              <a:lnSpc>
                <a:spcPct val="150000"/>
              </a:lnSpc>
            </a:pPr>
            <a:endParaRPr lang="en-GB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endParaRPr lang="en-GB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Aggregating Functions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AC9CBE7F-06C3-31C3-4459-D6E8A19441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43982" y="2582881"/>
            <a:ext cx="4304035" cy="14985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E9ACED5-8F20-1A2D-3D37-FB85CC56D4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43982" y="4944362"/>
            <a:ext cx="4304035" cy="13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42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E6E373C-D884-1B31-1FC2-F1358181A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82BB69-01DA-4C9B-A9CA-EA79A5117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Poppins" pitchFamily="2" charset="77"/>
                <a:cs typeface="Poppins" pitchFamily="2" charset="77"/>
              </a:rPr>
              <a:t>Merging </a:t>
            </a:r>
            <a:r>
              <a:rPr lang="en-GB" sz="4000" b="1" dirty="0" err="1">
                <a:latin typeface="Poppins" pitchFamily="2" charset="77"/>
                <a:cs typeface="Poppins" pitchFamily="2" charset="77"/>
              </a:rPr>
              <a:t>DataFrames</a:t>
            </a:r>
            <a:endParaRPr lang="aa-ET" sz="4000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D9245C4-0F96-AD56-A4CC-8EF1D1A70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Combining Two </a:t>
            </a:r>
            <a:r>
              <a:rPr lang="en-GB" dirty="0" err="1">
                <a:latin typeface="Poppins" pitchFamily="2" charset="77"/>
                <a:cs typeface="Poppins" pitchFamily="2" charset="77"/>
              </a:rPr>
              <a:t>DataFrames</a:t>
            </a:r>
            <a:endParaRPr lang="en-GB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endParaRPr lang="en-GB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99561D9-C67A-B0DA-A1BF-337DF547F0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19148" y="2832263"/>
            <a:ext cx="7553703" cy="266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85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F27FF28-0E84-A8B5-E4FD-B917B08B4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43F51E-2C66-E3F6-977E-ACE1D948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Poppins" pitchFamily="2" charset="77"/>
                <a:cs typeface="Poppins" pitchFamily="2" charset="77"/>
              </a:rPr>
              <a:t>Exporting Data</a:t>
            </a:r>
            <a:endParaRPr lang="aa-ET" sz="4000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E86632-261E-6F34-DD31-2B61B5323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Saving to CSV</a:t>
            </a:r>
          </a:p>
          <a:p>
            <a:pPr>
              <a:lnSpc>
                <a:spcPct val="150000"/>
              </a:lnSpc>
            </a:pPr>
            <a:endParaRPr lang="en-GB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endParaRPr lang="en-GB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Saving to Excel</a:t>
            </a:r>
          </a:p>
          <a:p>
            <a:pPr>
              <a:lnSpc>
                <a:spcPct val="150000"/>
              </a:lnSpc>
            </a:pPr>
            <a:endParaRPr lang="en-GB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AA59EE6-D9F8-70DE-0EA0-F45903278B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40478" y="2628447"/>
            <a:ext cx="4711044" cy="13096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8F8286F-900A-A493-3B20-50F3B8700C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40478" y="5029236"/>
            <a:ext cx="4711044" cy="122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04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477C968-C633-59C2-B665-82511F821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78E9619-7A1B-6FB8-8302-DFD2855F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Poppins" pitchFamily="2" charset="77"/>
                <a:cs typeface="Poppins" pitchFamily="2" charset="77"/>
              </a:rPr>
              <a:t>Practice Task</a:t>
            </a:r>
            <a:endParaRPr lang="aa-ET" sz="4000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E01784D-2779-3C2F-8123-7623B218C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latin typeface="Poppins" pitchFamily="2" charset="77"/>
                <a:cs typeface="Poppins" pitchFamily="2" charset="77"/>
              </a:rPr>
              <a:t>Task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Read a CSV file of student data (names, grades).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Filter out students with grades below 50.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Add a new column called Passed (True/False based on grade).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Poppins" pitchFamily="2" charset="77"/>
                <a:cs typeface="Poppins" pitchFamily="2" charset="77"/>
              </a:rPr>
              <a:t>Export the updated data to a new CSV file.</a:t>
            </a:r>
          </a:p>
        </p:txBody>
      </p:sp>
    </p:spTree>
    <p:extLst>
      <p:ext uri="{BB962C8B-B14F-4D97-AF65-F5344CB8AC3E}">
        <p14:creationId xmlns:p14="http://schemas.microsoft.com/office/powerpoint/2010/main" val="1279515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7E165DB-E443-438D-DC43-AD8271019FCF}"/>
              </a:ext>
            </a:extLst>
          </p:cNvPr>
          <p:cNvSpPr txBox="1"/>
          <p:nvPr/>
        </p:nvSpPr>
        <p:spPr>
          <a:xfrm>
            <a:off x="3017272" y="2767280"/>
            <a:ext cx="615745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a-ET" sz="8000" b="1" dirty="0">
                <a:latin typeface="Poppins" pitchFamily="2" charset="77"/>
                <a:cs typeface="Poppins" pitchFamily="2" charset="77"/>
              </a:rPr>
              <a:t>Thank You!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7B1FC3B-5C4B-A832-4318-8F575122FE7B}"/>
              </a:ext>
            </a:extLst>
          </p:cNvPr>
          <p:cNvSpPr txBox="1"/>
          <p:nvPr/>
        </p:nvSpPr>
        <p:spPr>
          <a:xfrm>
            <a:off x="517793" y="6059277"/>
            <a:ext cx="321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a-ET" b="1" dirty="0">
                <a:solidFill>
                  <a:srgbClr val="0432FF"/>
                </a:solidFill>
                <a:latin typeface="Poppins" pitchFamily="2" charset="77"/>
                <a:cs typeface="Poppins" pitchFamily="2" charset="77"/>
              </a:rPr>
              <a:t>jamil@cuisahiwal.edu.pk</a:t>
            </a:r>
          </a:p>
        </p:txBody>
      </p:sp>
    </p:spTree>
    <p:extLst>
      <p:ext uri="{BB962C8B-B14F-4D97-AF65-F5344CB8AC3E}">
        <p14:creationId xmlns:p14="http://schemas.microsoft.com/office/powerpoint/2010/main" val="3639366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</TotalTime>
  <Words>248</Words>
  <Application>Microsoft Office PowerPoint</Application>
  <PresentationFormat>Widescreen</PresentationFormat>
  <Paragraphs>66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Poppins</vt:lpstr>
      <vt:lpstr>Office Theme</vt:lpstr>
      <vt:lpstr>Introduction to Pandas</vt:lpstr>
      <vt:lpstr>What is Pandas?</vt:lpstr>
      <vt:lpstr>Installing Pandas</vt:lpstr>
      <vt:lpstr>Pandas Data Structures</vt:lpstr>
      <vt:lpstr>Pandas Data Structures</vt:lpstr>
      <vt:lpstr>Reading Data</vt:lpstr>
      <vt:lpstr>PowerPoint Presentation</vt:lpstr>
      <vt:lpstr>PowerPoint Presentation</vt:lpstr>
      <vt:lpstr>PowerPoint Presentation</vt:lpstr>
      <vt:lpstr>Data Exploration</vt:lpstr>
      <vt:lpstr>Selecting Data</vt:lpstr>
      <vt:lpstr> Data Cleaning</vt:lpstr>
      <vt:lpstr>Data Manipulation</vt:lpstr>
      <vt:lpstr>Grouping and Aggregating Data</vt:lpstr>
      <vt:lpstr>Merging DataFrames</vt:lpstr>
      <vt:lpstr>Exporting Data</vt:lpstr>
      <vt:lpstr>Practice Task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Pandas</dc:title>
  <dc:creator>Muhammad Jamil</dc:creator>
  <cp:lastModifiedBy>CUI</cp:lastModifiedBy>
  <cp:revision>15</cp:revision>
  <dcterms:created xsi:type="dcterms:W3CDTF">2024-09-08T19:50:23Z</dcterms:created>
  <dcterms:modified xsi:type="dcterms:W3CDTF">2024-10-21T10:36:18Z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2024-09-08T19:52:41Z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742eb8bf-7f95-4cbd-8269-20fedbc4977d</vt:lpwstr>
  </property>
  <property fmtid="{D5CDD505-2E9C-101B-9397-08002B2CF9AE}" pid="7" name="MSIP_Label_defa4170-0d19-0005-0004-bc88714345d2_ActionId">
    <vt:lpwstr>bb5c7170-0c67-455c-b5db-a2ab01c2cee6</vt:lpwstr>
  </property>
  <property fmtid="{D5CDD505-2E9C-101B-9397-08002B2CF9AE}" pid="8" name="MSIP_Label_defa4170-0d19-0005-0004-bc88714345d2_ContentBits">
    <vt:lpwstr>0</vt:lpwstr>
  </property>
</Properties>
</file>