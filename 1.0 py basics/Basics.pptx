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9" r:id="rId14"/>
    <p:sldId id="290" r:id="rId15"/>
    <p:sldId id="291" r:id="rId16"/>
    <p:sldId id="304" r:id="rId17"/>
    <p:sldId id="300" r:id="rId18"/>
    <p:sldId id="301" r:id="rId19"/>
    <p:sldId id="302" r:id="rId20"/>
    <p:sldId id="303" r:id="rId21"/>
    <p:sldId id="268" r:id="rId22"/>
    <p:sldId id="269" r:id="rId23"/>
    <p:sldId id="270" r:id="rId24"/>
    <p:sldId id="271" r:id="rId25"/>
    <p:sldId id="278" r:id="rId26"/>
    <p:sldId id="305" r:id="rId27"/>
    <p:sldId id="326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306" r:id="rId36"/>
    <p:sldId id="286" r:id="rId37"/>
    <p:sldId id="287" r:id="rId38"/>
    <p:sldId id="288" r:id="rId39"/>
    <p:sldId id="292" r:id="rId40"/>
    <p:sldId id="293" r:id="rId41"/>
    <p:sldId id="325" r:id="rId42"/>
    <p:sldId id="294" r:id="rId43"/>
    <p:sldId id="295" r:id="rId44"/>
    <p:sldId id="296" r:id="rId45"/>
    <p:sldId id="297" r:id="rId46"/>
    <p:sldId id="298" r:id="rId47"/>
    <p:sldId id="327" r:id="rId48"/>
    <p:sldId id="328" r:id="rId49"/>
    <p:sldId id="329" r:id="rId50"/>
    <p:sldId id="330" r:id="rId51"/>
    <p:sldId id="331" r:id="rId52"/>
    <p:sldId id="332" r:id="rId53"/>
    <p:sldId id="333" r:id="rId54"/>
    <p:sldId id="334" r:id="rId55"/>
    <p:sldId id="335" r:id="rId56"/>
    <p:sldId id="336" r:id="rId57"/>
    <p:sldId id="337" r:id="rId58"/>
    <p:sldId id="338" r:id="rId59"/>
    <p:sldId id="345" r:id="rId60"/>
    <p:sldId id="339" r:id="rId61"/>
    <p:sldId id="340" r:id="rId62"/>
    <p:sldId id="341" r:id="rId63"/>
    <p:sldId id="342" r:id="rId64"/>
    <p:sldId id="343" r:id="rId65"/>
    <p:sldId id="344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434" autoAdjust="0"/>
  </p:normalViewPr>
  <p:slideViewPr>
    <p:cSldViewPr snapToGrid="0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94D2D-D8C6-42F6-A9B6-8216F1F3190A}" type="datetimeFigureOut">
              <a:rPr lang="en-US" smtClean="0"/>
              <a:t>02/19/2026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83B44-C2BA-4AF3-9B0E-5E81DAD2C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073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94D2D-D8C6-42F6-A9B6-8216F1F3190A}" type="datetimeFigureOut">
              <a:rPr lang="en-US" smtClean="0"/>
              <a:t>02/19/2026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83B44-C2BA-4AF3-9B0E-5E81DAD2C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772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94D2D-D8C6-42F6-A9B6-8216F1F3190A}" type="datetimeFigureOut">
              <a:rPr lang="en-US" smtClean="0"/>
              <a:t>02/19/2026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83B44-C2BA-4AF3-9B0E-5E81DAD2C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367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94D2D-D8C6-42F6-A9B6-8216F1F3190A}" type="datetimeFigureOut">
              <a:rPr lang="en-US" smtClean="0"/>
              <a:t>02/19/2026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83B44-C2BA-4AF3-9B0E-5E81DAD2C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053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94D2D-D8C6-42F6-A9B6-8216F1F3190A}" type="datetimeFigureOut">
              <a:rPr lang="en-US" smtClean="0"/>
              <a:t>02/19/2026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83B44-C2BA-4AF3-9B0E-5E81DAD2C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552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94D2D-D8C6-42F6-A9B6-8216F1F3190A}" type="datetimeFigureOut">
              <a:rPr lang="en-US" smtClean="0"/>
              <a:t>02/19/2026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83B44-C2BA-4AF3-9B0E-5E81DAD2C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35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94D2D-D8C6-42F6-A9B6-8216F1F3190A}" type="datetimeFigureOut">
              <a:rPr lang="en-US" smtClean="0"/>
              <a:t>02/19/2026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83B44-C2BA-4AF3-9B0E-5E81DAD2C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922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94D2D-D8C6-42F6-A9B6-8216F1F3190A}" type="datetimeFigureOut">
              <a:rPr lang="en-US" smtClean="0"/>
              <a:t>02/19/2026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83B44-C2BA-4AF3-9B0E-5E81DAD2C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663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94D2D-D8C6-42F6-A9B6-8216F1F3190A}" type="datetimeFigureOut">
              <a:rPr lang="en-US" smtClean="0"/>
              <a:t>02/19/2026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83B44-C2BA-4AF3-9B0E-5E81DAD2C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56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94D2D-D8C6-42F6-A9B6-8216F1F3190A}" type="datetimeFigureOut">
              <a:rPr lang="en-US" smtClean="0"/>
              <a:t>02/19/2026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83B44-C2BA-4AF3-9B0E-5E81DAD2C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059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94D2D-D8C6-42F6-A9B6-8216F1F3190A}" type="datetimeFigureOut">
              <a:rPr lang="en-US" smtClean="0"/>
              <a:t>02/19/2026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83B44-C2BA-4AF3-9B0E-5E81DAD2C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773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94D2D-D8C6-42F6-A9B6-8216F1F3190A}" type="datetimeFigureOut">
              <a:rPr lang="en-US" smtClean="0"/>
              <a:t>02/19/2026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83B44-C2BA-4AF3-9B0E-5E81DAD2C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736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gramiz.com/python-programming/methods/built-in/float" TargetMode="External"/><Relationship Id="rId2" Type="http://schemas.openxmlformats.org/officeDocument/2006/relationships/hyperlink" Target="https://www.programiz.com/python-programming/methods/built-in/int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177307"/>
            <a:ext cx="9144000" cy="956256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>
                <a:latin typeface="Bahnschrift Light Condensed" panose="020B0502040204020203" pitchFamily="34" charset="0"/>
              </a:rPr>
              <a:t>Mr. Fahad Amin</a:t>
            </a:r>
          </a:p>
          <a:p>
            <a:r>
              <a:rPr lang="en-US" sz="2000" dirty="0">
                <a:latin typeface="Bahnschrift Light Condensed" panose="020B0502040204020203" pitchFamily="34" charset="0"/>
              </a:rPr>
              <a:t>Lecturer Dept. of Computer Science</a:t>
            </a:r>
          </a:p>
          <a:p>
            <a:r>
              <a:rPr lang="en-US" sz="2000" dirty="0">
                <a:latin typeface="Bahnschrift Light Condensed" panose="020B0502040204020203" pitchFamily="34" charset="0"/>
              </a:rPr>
              <a:t>COMSATS University Islamabad </a:t>
            </a:r>
          </a:p>
        </p:txBody>
      </p:sp>
    </p:spTree>
    <p:extLst>
      <p:ext uri="{BB962C8B-B14F-4D97-AF65-F5344CB8AC3E}">
        <p14:creationId xmlns:p14="http://schemas.microsoft.com/office/powerpoint/2010/main" val="1574674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Print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print('Good Morning!')</a:t>
            </a:r>
          </a:p>
          <a:p>
            <a:r>
              <a:rPr lang="en-US" dirty="0"/>
              <a:t>print('It is rainy today')</a:t>
            </a:r>
          </a:p>
        </p:txBody>
      </p:sp>
    </p:spTree>
    <p:extLst>
      <p:ext uri="{BB962C8B-B14F-4D97-AF65-F5344CB8AC3E}">
        <p14:creationId xmlns:p14="http://schemas.microsoft.com/office/powerpoint/2010/main" val="1028793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print() with end Parameter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# print with end whitespace</a:t>
            </a:r>
          </a:p>
          <a:p>
            <a:pPr marL="0" indent="0">
              <a:buNone/>
            </a:pPr>
            <a:r>
              <a:rPr lang="en-US" dirty="0"/>
              <a:t>print('Good Morning!', end= ' ')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print('It is rainy today')</a:t>
            </a:r>
          </a:p>
        </p:txBody>
      </p:sp>
    </p:spTree>
    <p:extLst>
      <p:ext uri="{BB962C8B-B14F-4D97-AF65-F5344CB8AC3E}">
        <p14:creationId xmlns:p14="http://schemas.microsoft.com/office/powerpoint/2010/main" val="3849847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print() with </a:t>
            </a:r>
            <a:r>
              <a:rPr lang="en-US" b="1" dirty="0" err="1"/>
              <a:t>sep</a:t>
            </a:r>
            <a:r>
              <a:rPr lang="en-US" b="1" dirty="0"/>
              <a:t> parameter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print('New Year', 2023, 'See you soon!', </a:t>
            </a:r>
            <a:r>
              <a:rPr lang="en-US" dirty="0" err="1"/>
              <a:t>sep</a:t>
            </a:r>
            <a:r>
              <a:rPr lang="en-US" dirty="0"/>
              <a:t>= '. ')</a:t>
            </a:r>
          </a:p>
        </p:txBody>
      </p:sp>
    </p:spTree>
    <p:extLst>
      <p:ext uri="{BB962C8B-B14F-4D97-AF65-F5344CB8AC3E}">
        <p14:creationId xmlns:p14="http://schemas.microsoft.com/office/powerpoint/2010/main" val="164564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Example: Print Python Variables and Literals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number = -10.6</a:t>
            </a:r>
          </a:p>
          <a:p>
            <a:endParaRPr lang="en-US" dirty="0"/>
          </a:p>
          <a:p>
            <a:r>
              <a:rPr lang="en-US" dirty="0"/>
              <a:t>name = “Ai"</a:t>
            </a:r>
          </a:p>
          <a:p>
            <a:endParaRPr lang="en-US" dirty="0"/>
          </a:p>
          <a:p>
            <a:r>
              <a:rPr lang="en-US" dirty="0"/>
              <a:t># print literals     </a:t>
            </a:r>
          </a:p>
          <a:p>
            <a:r>
              <a:rPr lang="en-US" dirty="0"/>
              <a:t>print(5)</a:t>
            </a:r>
          </a:p>
          <a:p>
            <a:endParaRPr lang="en-US" dirty="0"/>
          </a:p>
          <a:p>
            <a:r>
              <a:rPr lang="en-US" dirty="0"/>
              <a:t># print variables</a:t>
            </a:r>
          </a:p>
          <a:p>
            <a:r>
              <a:rPr lang="en-US" dirty="0"/>
              <a:t>print(number)</a:t>
            </a:r>
          </a:p>
          <a:p>
            <a:r>
              <a:rPr lang="en-US" dirty="0"/>
              <a:t>print(name)</a:t>
            </a:r>
          </a:p>
        </p:txBody>
      </p:sp>
    </p:spTree>
    <p:extLst>
      <p:ext uri="{BB962C8B-B14F-4D97-AF65-F5344CB8AC3E}">
        <p14:creationId xmlns:p14="http://schemas.microsoft.com/office/powerpoint/2010/main" val="4077761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Print Concatenated Strings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print(‘Ai in Python is ' + 'awesome.')</a:t>
            </a:r>
          </a:p>
        </p:txBody>
      </p:sp>
    </p:spTree>
    <p:extLst>
      <p:ext uri="{BB962C8B-B14F-4D97-AF65-F5344CB8AC3E}">
        <p14:creationId xmlns:p14="http://schemas.microsoft.com/office/powerpoint/2010/main" val="1483021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User Input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# using input() to take user input</a:t>
            </a:r>
          </a:p>
          <a:p>
            <a:pPr marL="0" indent="0">
              <a:buNone/>
            </a:pPr>
            <a:r>
              <a:rPr lang="en-US" dirty="0" err="1"/>
              <a:t>num</a:t>
            </a:r>
            <a:r>
              <a:rPr lang="en-US" dirty="0"/>
              <a:t> = input('Enter a number: ')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print('You Entered:', </a:t>
            </a:r>
            <a:r>
              <a:rPr lang="en-US" dirty="0" err="1"/>
              <a:t>num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print('Data type of </a:t>
            </a:r>
            <a:r>
              <a:rPr lang="en-US" dirty="0" err="1"/>
              <a:t>num</a:t>
            </a:r>
            <a:r>
              <a:rPr lang="en-US" dirty="0"/>
              <a:t>:', type(</a:t>
            </a:r>
            <a:r>
              <a:rPr lang="en-US" dirty="0" err="1"/>
              <a:t>num</a:t>
            </a:r>
            <a:r>
              <a:rPr lang="en-US" dirty="0"/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157020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4901"/>
            <a:ext cx="10515600" cy="4662062"/>
          </a:xfrm>
        </p:spPr>
        <p:txBody>
          <a:bodyPr/>
          <a:lstStyle/>
          <a:p>
            <a:r>
              <a:rPr lang="en-US" dirty="0" err="1"/>
              <a:t>num</a:t>
            </a:r>
            <a:r>
              <a:rPr lang="en-US" dirty="0"/>
              <a:t> = input('Enter a number: ')</a:t>
            </a:r>
          </a:p>
          <a:p>
            <a:r>
              <a:rPr lang="en-US" dirty="0"/>
              <a:t>print('Data type of </a:t>
            </a:r>
            <a:r>
              <a:rPr lang="en-US" dirty="0" err="1"/>
              <a:t>num</a:t>
            </a:r>
            <a:r>
              <a:rPr lang="en-US" dirty="0"/>
              <a:t>:', type(</a:t>
            </a:r>
            <a:r>
              <a:rPr lang="en-US" dirty="0" err="1"/>
              <a:t>num</a:t>
            </a:r>
            <a:r>
              <a:rPr lang="en-US" dirty="0"/>
              <a:t>))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To convert user input into a number we can use </a:t>
            </a:r>
            <a:r>
              <a:rPr lang="en-US" dirty="0" err="1">
                <a:solidFill>
                  <a:srgbClr val="FF0000"/>
                </a:solidFill>
                <a:hlinkClick r:id="rId2"/>
              </a:rPr>
              <a:t>int</a:t>
            </a:r>
            <a:r>
              <a:rPr lang="en-US" dirty="0">
                <a:solidFill>
                  <a:srgbClr val="FF0000"/>
                </a:solidFill>
                <a:hlinkClick r:id="rId2"/>
              </a:rPr>
              <a:t>()</a:t>
            </a:r>
            <a:r>
              <a:rPr lang="en-US" dirty="0">
                <a:solidFill>
                  <a:srgbClr val="FF0000"/>
                </a:solidFill>
              </a:rPr>
              <a:t> or </a:t>
            </a:r>
            <a:r>
              <a:rPr lang="en-US" dirty="0">
                <a:solidFill>
                  <a:srgbClr val="FF0000"/>
                </a:solidFill>
                <a:hlinkClick r:id="rId3"/>
              </a:rPr>
              <a:t>float()</a:t>
            </a:r>
            <a:r>
              <a:rPr lang="en-US" dirty="0">
                <a:solidFill>
                  <a:srgbClr val="FF0000"/>
                </a:solidFill>
              </a:rPr>
              <a:t> functions as:</a:t>
            </a:r>
          </a:p>
          <a:p>
            <a:r>
              <a:rPr lang="en-US" dirty="0" err="1"/>
              <a:t>num</a:t>
            </a:r>
            <a:r>
              <a:rPr lang="en-US" dirty="0"/>
              <a:t> = </a:t>
            </a:r>
            <a:r>
              <a:rPr lang="en-US" dirty="0" err="1"/>
              <a:t>int</a:t>
            </a:r>
            <a:r>
              <a:rPr lang="en-US" dirty="0"/>
              <a:t>(input('Enter a number: '))</a:t>
            </a:r>
          </a:p>
        </p:txBody>
      </p:sp>
      <p:sp>
        <p:nvSpPr>
          <p:cNvPr id="5" name="Down Arrow 4"/>
          <p:cNvSpPr/>
          <p:nvPr/>
        </p:nvSpPr>
        <p:spPr>
          <a:xfrm>
            <a:off x="4995083" y="2508785"/>
            <a:ext cx="1869742" cy="15855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94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Example: Python 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number &gt; 0:</a:t>
            </a:r>
          </a:p>
          <a:p>
            <a:pPr marL="0" indent="0">
              <a:buNone/>
            </a:pPr>
            <a:r>
              <a:rPr lang="en-US" dirty="0"/>
              <a:t>    print('Positive number')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elif</a:t>
            </a:r>
            <a:r>
              <a:rPr lang="en-US" dirty="0"/>
              <a:t> number &lt; 0:</a:t>
            </a:r>
          </a:p>
          <a:p>
            <a:pPr marL="0" indent="0">
              <a:buNone/>
            </a:pPr>
            <a:r>
              <a:rPr lang="en-US" dirty="0"/>
              <a:t>    print('Negative number')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else:</a:t>
            </a:r>
          </a:p>
          <a:p>
            <a:pPr marL="0" indent="0">
              <a:buNone/>
            </a:pPr>
            <a:r>
              <a:rPr lang="en-US" dirty="0"/>
              <a:t>    print('Zero')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print('This statement is always executed')</a:t>
            </a:r>
          </a:p>
        </p:txBody>
      </p:sp>
    </p:spTree>
    <p:extLst>
      <p:ext uri="{BB962C8B-B14F-4D97-AF65-F5344CB8AC3E}">
        <p14:creationId xmlns:p14="http://schemas.microsoft.com/office/powerpoint/2010/main" val="2734018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540" y="924683"/>
            <a:ext cx="10515600" cy="1325563"/>
          </a:xfrm>
        </p:spPr>
        <p:txBody>
          <a:bodyPr vert="horz">
            <a:norm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Find the greatest roll number among 5 roll Numbers</a:t>
            </a:r>
          </a:p>
        </p:txBody>
      </p:sp>
      <p:sp>
        <p:nvSpPr>
          <p:cNvPr id="5" name="5-Point Star 4"/>
          <p:cNvSpPr/>
          <p:nvPr/>
        </p:nvSpPr>
        <p:spPr>
          <a:xfrm>
            <a:off x="3439235" y="2019869"/>
            <a:ext cx="3957851" cy="3392334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4281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4328" t="23868" r="19403" b="29542"/>
          <a:stretch/>
        </p:blipFill>
        <p:spPr>
          <a:xfrm>
            <a:off x="0" y="716319"/>
            <a:ext cx="11722625" cy="463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231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4137" t="28614" r="30015" b="7402"/>
          <a:stretch/>
        </p:blipFill>
        <p:spPr>
          <a:xfrm>
            <a:off x="906438" y="12879"/>
            <a:ext cx="8824416" cy="692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077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function ():</a:t>
            </a:r>
          </a:p>
          <a:p>
            <a:pPr marL="0" indent="0">
              <a:buNone/>
            </a:pPr>
            <a:r>
              <a:rPr lang="en-US" dirty="0"/>
              <a:t>print("wow")</a:t>
            </a:r>
          </a:p>
          <a:p>
            <a:pPr marL="0" indent="0">
              <a:buNone/>
            </a:pPr>
            <a:r>
              <a:rPr lang="en-US" dirty="0"/>
              <a:t>function()</a:t>
            </a:r>
          </a:p>
        </p:txBody>
      </p:sp>
    </p:spTree>
    <p:extLst>
      <p:ext uri="{BB962C8B-B14F-4D97-AF65-F5344CB8AC3E}">
        <p14:creationId xmlns:p14="http://schemas.microsoft.com/office/powerpoint/2010/main" val="3092269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add_numbers</a:t>
            </a:r>
            <a:r>
              <a:rPr lang="en-US" dirty="0"/>
              <a:t>(x, y):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rgbClr val="FF0000"/>
                </a:solidFill>
              </a:rPr>
              <a:t>This function adds two numbers and returns the result.</a:t>
            </a:r>
          </a:p>
          <a:p>
            <a:pPr marL="0" indent="0">
              <a:buNone/>
            </a:pPr>
            <a:r>
              <a:rPr lang="en-US" dirty="0"/>
              <a:t>return x + y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Calling the function and storing the result</a:t>
            </a:r>
          </a:p>
          <a:p>
            <a:pPr marL="0" indent="0">
              <a:buNone/>
            </a:pPr>
            <a:r>
              <a:rPr lang="en-US" dirty="0"/>
              <a:t>result = </a:t>
            </a:r>
            <a:r>
              <a:rPr lang="en-US" dirty="0" err="1"/>
              <a:t>add_numbers</a:t>
            </a:r>
            <a:r>
              <a:rPr lang="en-US" dirty="0"/>
              <a:t>(3, 5)</a:t>
            </a:r>
          </a:p>
          <a:p>
            <a:pPr marL="0" indent="0">
              <a:buNone/>
            </a:pPr>
            <a:r>
              <a:rPr lang="en-US" dirty="0"/>
              <a:t>print(result) 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Output: 8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22266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File A (saved as </a:t>
            </a:r>
            <a:r>
              <a:rPr lang="en-US" dirty="0" err="1">
                <a:solidFill>
                  <a:srgbClr val="FF0000"/>
                </a:solidFill>
              </a:rPr>
              <a:t>py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function (): </a:t>
            </a:r>
          </a:p>
          <a:p>
            <a:pPr marL="0" indent="0">
              <a:buNone/>
            </a:pPr>
            <a:r>
              <a:rPr lang="en-US" dirty="0"/>
              <a:t>print(“</a:t>
            </a:r>
            <a:r>
              <a:rPr lang="en-US" dirty="0" err="1"/>
              <a:t>Fuction</a:t>
            </a:r>
            <a:r>
              <a:rPr lang="en-US" dirty="0"/>
              <a:t> written in File A")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File B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import a</a:t>
            </a:r>
          </a:p>
          <a:p>
            <a:pPr marL="0" indent="0">
              <a:buNone/>
            </a:pPr>
            <a:r>
              <a:rPr lang="en-US" dirty="0" err="1"/>
              <a:t>a.function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182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palindrome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dirty="0" err="1"/>
              <a:t>def</a:t>
            </a:r>
            <a:r>
              <a:rPr lang="en-US" dirty="0"/>
              <a:t> palindrome(s):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Normalize the string by converting it to lowercase    </a:t>
            </a:r>
          </a:p>
          <a:p>
            <a:pPr marL="0" indent="0">
              <a:buNone/>
            </a:pPr>
            <a:r>
              <a:rPr lang="en-US" dirty="0"/>
              <a:t>s = </a:t>
            </a:r>
            <a:r>
              <a:rPr lang="en-US" dirty="0" err="1"/>
              <a:t>s.lower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Compare the string with its reverse    </a:t>
            </a:r>
          </a:p>
          <a:p>
            <a:pPr marL="0" indent="0">
              <a:buNone/>
            </a:pPr>
            <a:r>
              <a:rPr lang="en-US" dirty="0"/>
              <a:t>if s == s[::-1]:        </a:t>
            </a:r>
          </a:p>
          <a:p>
            <a:pPr marL="0" indent="0">
              <a:buNone/>
            </a:pPr>
            <a:r>
              <a:rPr lang="en-US" dirty="0"/>
              <a:t>print("palindrome")    </a:t>
            </a:r>
          </a:p>
          <a:p>
            <a:pPr marL="0" indent="0">
              <a:buNone/>
            </a:pPr>
            <a:r>
              <a:rPr lang="en-US" dirty="0"/>
              <a:t>else:        </a:t>
            </a:r>
          </a:p>
          <a:p>
            <a:pPr marL="0" indent="0">
              <a:buNone/>
            </a:pPr>
            <a:r>
              <a:rPr lang="en-US" dirty="0"/>
              <a:t>print("Not palindrome")</a:t>
            </a:r>
          </a:p>
          <a:p>
            <a:pPr marL="0" indent="0">
              <a:buNone/>
            </a:pPr>
            <a:r>
              <a:rPr lang="en-US" dirty="0"/>
              <a:t>palindrome("Racecar")  </a:t>
            </a:r>
          </a:p>
          <a:p>
            <a:pPr marL="0" indent="0">
              <a:buNone/>
            </a:pPr>
            <a:r>
              <a:rPr lang="en-US" dirty="0"/>
              <a:t>palindrome("Python") </a:t>
            </a:r>
          </a:p>
        </p:txBody>
      </p:sp>
    </p:spTree>
    <p:extLst>
      <p:ext uri="{BB962C8B-B14F-4D97-AF65-F5344CB8AC3E}">
        <p14:creationId xmlns:p14="http://schemas.microsoft.com/office/powerpoint/2010/main" val="1544991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Looping over a list</a:t>
            </a:r>
          </a:p>
          <a:p>
            <a:pPr marL="0" indent="0">
              <a:buNone/>
            </a:pPr>
            <a:r>
              <a:rPr lang="en-US" dirty="0"/>
              <a:t>fruits = ["apple", "banana", "cherry"]</a:t>
            </a:r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fruits:</a:t>
            </a:r>
          </a:p>
          <a:p>
            <a:pPr marL="0" indent="0">
              <a:buNone/>
            </a:pPr>
            <a:r>
              <a:rPr lang="en-US" dirty="0"/>
              <a:t>    print(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Looping over a range of numbers</a:t>
            </a:r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range(5):</a:t>
            </a:r>
          </a:p>
          <a:p>
            <a:pPr marL="0" indent="0">
              <a:buNone/>
            </a:pPr>
            <a:r>
              <a:rPr lang="en-US" dirty="0"/>
              <a:t>    print(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566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Looping with a while loop</a:t>
            </a:r>
          </a:p>
          <a:p>
            <a:pPr marL="0" indent="0">
              <a:buNone/>
            </a:pPr>
            <a:r>
              <a:rPr lang="en-US" dirty="0"/>
              <a:t>count = 0</a:t>
            </a:r>
          </a:p>
          <a:p>
            <a:pPr marL="0" indent="0">
              <a:buNone/>
            </a:pPr>
            <a:r>
              <a:rPr lang="en-US" dirty="0"/>
              <a:t>while count &lt; 5:</a:t>
            </a:r>
          </a:p>
          <a:p>
            <a:pPr marL="0" indent="0">
              <a:buNone/>
            </a:pPr>
            <a:r>
              <a:rPr lang="en-US" dirty="0"/>
              <a:t>    print(count)</a:t>
            </a:r>
          </a:p>
          <a:p>
            <a:pPr marL="0" indent="0">
              <a:buNone/>
            </a:pPr>
            <a:r>
              <a:rPr lang="en-US" dirty="0"/>
              <a:t>    count += 1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416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Control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range(10): </a:t>
            </a:r>
          </a:p>
          <a:p>
            <a:pPr marL="0" indent="0">
              <a:buNone/>
            </a:pPr>
            <a:r>
              <a:rPr lang="en-US" dirty="0"/>
              <a:t>if </a:t>
            </a:r>
            <a:r>
              <a:rPr lang="en-US" dirty="0" err="1"/>
              <a:t>i</a:t>
            </a:r>
            <a:r>
              <a:rPr lang="en-US" dirty="0"/>
              <a:t> == 5: </a:t>
            </a:r>
          </a:p>
          <a:p>
            <a:pPr marL="0" indent="0">
              <a:buNone/>
            </a:pPr>
            <a:r>
              <a:rPr lang="en-US" dirty="0"/>
              <a:t>break // or Continue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8435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for loops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range(3):</a:t>
            </a:r>
          </a:p>
          <a:p>
            <a:pPr marL="0" indent="0">
              <a:buNone/>
            </a:pPr>
            <a:r>
              <a:rPr lang="en-US" dirty="0"/>
              <a:t>    for j in range(2):</a:t>
            </a:r>
          </a:p>
          <a:p>
            <a:pPr marL="0" indent="0">
              <a:buNone/>
            </a:pPr>
            <a:r>
              <a:rPr lang="en-US" dirty="0"/>
              <a:t>        print(</a:t>
            </a:r>
            <a:r>
              <a:rPr lang="en-US" dirty="0" err="1"/>
              <a:t>i,j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0273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04967"/>
            <a:ext cx="10515600" cy="567199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Write a Python code to accept an integer value from user and check that whether the given value is prime number or not.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3603008" y="2347901"/>
            <a:ext cx="3957851" cy="3392334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78463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1375" y="12879"/>
            <a:ext cx="6715352" cy="1262130"/>
          </a:xfrm>
        </p:spPr>
        <p:txBody>
          <a:bodyPr>
            <a:normAutofit fontScale="90000"/>
          </a:bodyPr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Artificial Intelligence game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0394" t="36772" r="37274" b="7247"/>
          <a:stretch/>
        </p:blipFill>
        <p:spPr>
          <a:xfrm>
            <a:off x="1539680" y="1058892"/>
            <a:ext cx="9113992" cy="579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5821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55622" y="1207896"/>
            <a:ext cx="11589912" cy="400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34" charset="-128"/>
              </a:rPr>
              <a:t>MINIMUM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and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34" charset="-128"/>
              </a:rPr>
              <a:t>MAXIMUM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set the range for the random number.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34" charset="-128"/>
              </a:rPr>
              <a:t>NUMBER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assigned a random integer between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MINIMUM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MAXIMUM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(inclusive)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random.randint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34" charset="-128"/>
              </a:rPr>
              <a:t>GUESS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initialized to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None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This will store the user's guess.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34" charset="-128"/>
              </a:rPr>
              <a:t>TRY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initialized to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This will count the number of attempts the user has made.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34" charset="-128"/>
              </a:rPr>
              <a:t>RUNNING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boolean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variable set to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True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which controls the while loop.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305412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6149" t="17239" r="29421" b="5807"/>
          <a:stretch/>
        </p:blipFill>
        <p:spPr>
          <a:xfrm>
            <a:off x="1751526" y="142778"/>
            <a:ext cx="7237927" cy="672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2011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= [2,4,6]</a:t>
            </a:r>
          </a:p>
          <a:p>
            <a:r>
              <a:rPr lang="en-US" dirty="0"/>
              <a:t>print("Blank List: ")</a:t>
            </a:r>
          </a:p>
          <a:p>
            <a:r>
              <a:rPr lang="en-US" dirty="0"/>
              <a:t>print(List)</a:t>
            </a:r>
          </a:p>
        </p:txBody>
      </p:sp>
    </p:spTree>
    <p:extLst>
      <p:ext uri="{BB962C8B-B14F-4D97-AF65-F5344CB8AC3E}">
        <p14:creationId xmlns:p14="http://schemas.microsoft.com/office/powerpoint/2010/main" val="24009879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93183"/>
            <a:ext cx="10765665" cy="649095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Create a list </a:t>
            </a:r>
          </a:p>
          <a:p>
            <a:pPr marL="0" indent="0">
              <a:buNone/>
            </a:pPr>
            <a:r>
              <a:rPr lang="en-US" dirty="0" err="1"/>
              <a:t>my_array</a:t>
            </a:r>
            <a:r>
              <a:rPr lang="en-US" dirty="0"/>
              <a:t> = [1, 2, 3, 4, 5]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Accessing elements in the list</a:t>
            </a:r>
          </a:p>
          <a:p>
            <a:pPr marL="0" indent="0">
              <a:buNone/>
            </a:pPr>
            <a:r>
              <a:rPr lang="en-US" dirty="0"/>
              <a:t>print("First element:", </a:t>
            </a:r>
            <a:r>
              <a:rPr lang="en-US" dirty="0" err="1"/>
              <a:t>my_array</a:t>
            </a:r>
            <a:r>
              <a:rPr lang="en-US" dirty="0"/>
              <a:t>[0])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Adding an element to the list</a:t>
            </a:r>
          </a:p>
          <a:p>
            <a:pPr marL="0" indent="0">
              <a:buNone/>
            </a:pPr>
            <a:r>
              <a:rPr lang="en-US" dirty="0" err="1"/>
              <a:t>my_array.append</a:t>
            </a:r>
            <a:r>
              <a:rPr lang="en-US" dirty="0"/>
              <a:t>(6)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add multiple elements 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my_array.extend</a:t>
            </a:r>
            <a:r>
              <a:rPr lang="en-US" dirty="0"/>
              <a:t>([2,3,4,5,6,7])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insert element at specific position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my_array.insert</a:t>
            </a:r>
            <a:r>
              <a:rPr lang="en-US" dirty="0"/>
              <a:t>(2,3)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reverse list</a:t>
            </a:r>
          </a:p>
          <a:p>
            <a:pPr marL="0" indent="0">
              <a:buNone/>
            </a:pPr>
            <a:r>
              <a:rPr lang="en-US" dirty="0" err="1"/>
              <a:t>my_array.reverse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Removing an element from the list</a:t>
            </a:r>
          </a:p>
          <a:p>
            <a:pPr marL="0" indent="0">
              <a:buNone/>
            </a:pPr>
            <a:r>
              <a:rPr lang="en-US" dirty="0" err="1"/>
              <a:t>my_array.remove</a:t>
            </a:r>
            <a:r>
              <a:rPr lang="en-US" dirty="0"/>
              <a:t>(3)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Slicing the list</a:t>
            </a:r>
          </a:p>
          <a:p>
            <a:pPr marL="0" indent="0">
              <a:buNone/>
            </a:pPr>
            <a:r>
              <a:rPr lang="en-US" dirty="0"/>
              <a:t>print("Sliced list:", </a:t>
            </a:r>
            <a:r>
              <a:rPr lang="en-US" dirty="0" err="1"/>
              <a:t>my_array</a:t>
            </a:r>
            <a:r>
              <a:rPr lang="en-US" dirty="0"/>
              <a:t>[1:4])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Clear List</a:t>
            </a:r>
          </a:p>
          <a:p>
            <a:pPr marL="0" indent="0">
              <a:buNone/>
            </a:pPr>
            <a:r>
              <a:rPr lang="en-US" dirty="0" err="1"/>
              <a:t>my_array.clear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0887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Sorting list with built in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list=[3,4,6,0,1]</a:t>
            </a:r>
          </a:p>
          <a:p>
            <a:pPr marL="0" indent="0">
              <a:buNone/>
            </a:pPr>
            <a:r>
              <a:rPr lang="en-US" dirty="0" err="1"/>
              <a:t>list.sort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b="1" dirty="0" err="1"/>
              <a:t>list.sort</a:t>
            </a:r>
            <a:r>
              <a:rPr lang="en-US" b="1" dirty="0"/>
              <a:t>(reverse=True)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print(list)</a:t>
            </a:r>
          </a:p>
        </p:txBody>
      </p:sp>
    </p:spTree>
    <p:extLst>
      <p:ext uri="{BB962C8B-B14F-4D97-AF65-F5344CB8AC3E}">
        <p14:creationId xmlns:p14="http://schemas.microsoft.com/office/powerpoint/2010/main" val="23381631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List of strings and accessing  using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List = [“Artificial", “intelligence", “CS"]</a:t>
            </a:r>
          </a:p>
          <a:p>
            <a:pPr marL="0" indent="0">
              <a:buNone/>
            </a:pPr>
            <a:r>
              <a:rPr lang="en-US" dirty="0"/>
              <a:t>print("\</a:t>
            </a:r>
            <a:r>
              <a:rPr lang="en-US" dirty="0" err="1"/>
              <a:t>nList</a:t>
            </a:r>
            <a:r>
              <a:rPr lang="en-US" dirty="0"/>
              <a:t> Items: ")</a:t>
            </a:r>
          </a:p>
          <a:p>
            <a:pPr marL="0" indent="0">
              <a:buNone/>
            </a:pPr>
            <a:r>
              <a:rPr lang="en-US" dirty="0"/>
              <a:t>print(List[0])</a:t>
            </a:r>
          </a:p>
          <a:p>
            <a:pPr marL="0" indent="0">
              <a:buNone/>
            </a:pPr>
            <a:r>
              <a:rPr lang="en-US" dirty="0"/>
              <a:t>print(List[2])</a:t>
            </a:r>
          </a:p>
        </p:txBody>
      </p:sp>
    </p:spTree>
    <p:extLst>
      <p:ext uri="{BB962C8B-B14F-4D97-AF65-F5344CB8AC3E}">
        <p14:creationId xmlns:p14="http://schemas.microsoft.com/office/powerpoint/2010/main" val="31292277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Multi-Dimensional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= [[‘A', 'For'], [‘Apple']]</a:t>
            </a:r>
          </a:p>
          <a:p>
            <a:r>
              <a:rPr lang="en-US" dirty="0"/>
              <a:t>print("\</a:t>
            </a:r>
            <a:r>
              <a:rPr lang="en-US" dirty="0" err="1"/>
              <a:t>nMulti</a:t>
            </a:r>
            <a:r>
              <a:rPr lang="en-US" dirty="0"/>
              <a:t>-Dimensional List: ")</a:t>
            </a:r>
          </a:p>
          <a:p>
            <a:r>
              <a:rPr lang="en-US" dirty="0"/>
              <a:t>print(List)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645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927" y="134756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list may contain duplicate values with their distinct positions and hence, multiple distinct or duplicate values can be passed as a sequence at the time of list creation.</a:t>
            </a:r>
            <a:endParaRPr lang="da-DK" dirty="0"/>
          </a:p>
          <a:p>
            <a:r>
              <a:rPr lang="da-DK" dirty="0"/>
              <a:t>List = [1, 2, 4, 4, 3, 3, 3, 6, 5]</a:t>
            </a:r>
          </a:p>
          <a:p>
            <a:r>
              <a:rPr lang="nl-NL" dirty="0"/>
              <a:t>List = [1, 2, 'Geeks', 4, 'For', 6, 'Geeks']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382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Knowing the size of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print(</a:t>
            </a:r>
            <a:r>
              <a:rPr lang="en-US" dirty="0" err="1"/>
              <a:t>len</a:t>
            </a:r>
            <a:r>
              <a:rPr lang="en-US" dirty="0"/>
              <a:t>(List1)) </a:t>
            </a:r>
          </a:p>
        </p:txBody>
      </p:sp>
    </p:spTree>
    <p:extLst>
      <p:ext uri="{BB962C8B-B14F-4D97-AF65-F5344CB8AC3E}">
        <p14:creationId xmlns:p14="http://schemas.microsoft.com/office/powerpoint/2010/main" val="11245235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of elements in a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List.append</a:t>
            </a:r>
            <a:r>
              <a:rPr lang="en-US" dirty="0"/>
              <a:t>(1) </a:t>
            </a:r>
          </a:p>
          <a:p>
            <a:r>
              <a:rPr lang="en-US" dirty="0" err="1"/>
              <a:t>List.append</a:t>
            </a:r>
            <a:r>
              <a:rPr lang="en-US" dirty="0"/>
              <a:t>(2) </a:t>
            </a:r>
          </a:p>
          <a:p>
            <a:r>
              <a:rPr lang="en-US" dirty="0" err="1"/>
              <a:t>List.append</a:t>
            </a:r>
            <a:r>
              <a:rPr lang="en-US" dirty="0"/>
              <a:t>(4)</a:t>
            </a:r>
          </a:p>
        </p:txBody>
      </p:sp>
    </p:spTree>
    <p:extLst>
      <p:ext uri="{BB962C8B-B14F-4D97-AF65-F5344CB8AC3E}">
        <p14:creationId xmlns:p14="http://schemas.microsoft.com/office/powerpoint/2010/main" val="20366016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Arial Narrow" panose="020B0606020202030204" pitchFamily="34" charset="0"/>
              </a:rPr>
              <a:t>Filling list with loop and Addition of a Tuple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List = []</a:t>
            </a:r>
          </a:p>
          <a:p>
            <a:pPr marL="0" indent="0">
              <a:buNone/>
            </a:pPr>
            <a:r>
              <a:rPr lang="en-US" dirty="0"/>
              <a:t>print("Initial blank List: ")</a:t>
            </a:r>
          </a:p>
          <a:p>
            <a:pPr marL="0" indent="0">
              <a:buNone/>
            </a:pPr>
            <a:r>
              <a:rPr lang="en-US" dirty="0"/>
              <a:t>print(List)</a:t>
            </a:r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range(1, 5):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List.append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print("\</a:t>
            </a:r>
            <a:r>
              <a:rPr lang="en-US" dirty="0" err="1"/>
              <a:t>nList</a:t>
            </a:r>
            <a:r>
              <a:rPr lang="en-US" dirty="0"/>
              <a:t> after Addition of elements from 1-4: ")</a:t>
            </a:r>
          </a:p>
          <a:p>
            <a:pPr marL="0" indent="0">
              <a:buNone/>
            </a:pPr>
            <a:r>
              <a:rPr lang="en-US" dirty="0"/>
              <a:t>print(List)</a:t>
            </a:r>
          </a:p>
          <a:p>
            <a:pPr marL="0" indent="0">
              <a:buNone/>
            </a:pPr>
            <a:r>
              <a:rPr lang="en-US" dirty="0" err="1"/>
              <a:t>List.append</a:t>
            </a:r>
            <a:r>
              <a:rPr lang="en-US" dirty="0"/>
              <a:t>((5, 6))</a:t>
            </a:r>
          </a:p>
          <a:p>
            <a:pPr marL="0" indent="0">
              <a:buNone/>
            </a:pPr>
            <a:r>
              <a:rPr lang="en-US" dirty="0"/>
              <a:t>print("\</a:t>
            </a:r>
            <a:r>
              <a:rPr lang="en-US" dirty="0" err="1"/>
              <a:t>nList</a:t>
            </a:r>
            <a:r>
              <a:rPr lang="en-US" dirty="0"/>
              <a:t> after Addition of a Tuple: ")</a:t>
            </a:r>
          </a:p>
          <a:p>
            <a:pPr marL="0" indent="0">
              <a:buNone/>
            </a:pPr>
            <a:r>
              <a:rPr lang="en-US" dirty="0"/>
              <a:t>print(List)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9721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of 2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# Initial lists</a:t>
            </a:r>
          </a:p>
          <a:p>
            <a:r>
              <a:rPr lang="en-US" dirty="0"/>
              <a:t>List1 = [1, 2, 3]</a:t>
            </a:r>
          </a:p>
          <a:p>
            <a:r>
              <a:rPr lang="en-US" dirty="0"/>
              <a:t>List2 = [4, 5, 6]</a:t>
            </a:r>
          </a:p>
          <a:p>
            <a:r>
              <a:rPr lang="en-US" dirty="0"/>
              <a:t>List1.extend(List2)  </a:t>
            </a:r>
            <a:r>
              <a:rPr lang="en-US" dirty="0">
                <a:solidFill>
                  <a:srgbClr val="FF0000"/>
                </a:solidFill>
              </a:rPr>
              <a:t>// list3=list1+list2</a:t>
            </a:r>
          </a:p>
          <a:p>
            <a:r>
              <a:rPr lang="en-US" dirty="0"/>
              <a:t>print("List after Addition using extend: ")</a:t>
            </a:r>
          </a:p>
          <a:p>
            <a:r>
              <a:rPr lang="en-US" dirty="0"/>
              <a:t>print(List1)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1968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636876" cy="483275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my_array</a:t>
            </a:r>
            <a:r>
              <a:rPr lang="en-US" dirty="0"/>
              <a:t> = [10, 20, 30, 40, 50]</a:t>
            </a:r>
          </a:p>
          <a:p>
            <a:pPr marL="0" indent="0">
              <a:buNone/>
            </a:pPr>
            <a:r>
              <a:rPr lang="en-US" dirty="0"/>
              <a:t>target = 30</a:t>
            </a:r>
          </a:p>
          <a:p>
            <a:pPr marL="0" indent="0">
              <a:buNone/>
            </a:pPr>
            <a:r>
              <a:rPr lang="en-US" dirty="0"/>
              <a:t>index = 0</a:t>
            </a:r>
          </a:p>
          <a:p>
            <a:pPr marL="0" indent="0">
              <a:buNone/>
            </a:pPr>
            <a:r>
              <a:rPr lang="en-US" dirty="0"/>
              <a:t>while index &lt;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my_array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    if </a:t>
            </a:r>
            <a:r>
              <a:rPr lang="en-US" dirty="0" err="1"/>
              <a:t>my_array</a:t>
            </a:r>
            <a:r>
              <a:rPr lang="en-US" dirty="0"/>
              <a:t>[index] == target:</a:t>
            </a:r>
          </a:p>
          <a:p>
            <a:pPr marL="0" indent="0">
              <a:buNone/>
            </a:pPr>
            <a:r>
              <a:rPr lang="en-US" dirty="0"/>
              <a:t>        print(“found at index”, index)</a:t>
            </a:r>
          </a:p>
          <a:p>
            <a:pPr marL="0" indent="0">
              <a:buNone/>
            </a:pPr>
            <a:r>
              <a:rPr lang="en-US" dirty="0"/>
              <a:t>        break </a:t>
            </a:r>
          </a:p>
          <a:p>
            <a:pPr marL="0" indent="0">
              <a:buNone/>
            </a:pPr>
            <a:r>
              <a:rPr lang="en-US" dirty="0"/>
              <a:t>         index += 1  </a:t>
            </a:r>
          </a:p>
          <a:p>
            <a:pPr marL="0" indent="0">
              <a:buNone/>
            </a:pPr>
            <a:r>
              <a:rPr lang="en-US" dirty="0"/>
              <a:t>else:</a:t>
            </a:r>
          </a:p>
          <a:p>
            <a:pPr marL="0" indent="0">
              <a:buNone/>
            </a:pPr>
            <a:r>
              <a:rPr lang="en-US" dirty="0"/>
              <a:t>    print(“not found in the array")</a:t>
            </a:r>
          </a:p>
        </p:txBody>
      </p:sp>
    </p:spTree>
    <p:extLst>
      <p:ext uri="{BB962C8B-B14F-4D97-AF65-F5344CB8AC3E}">
        <p14:creationId xmlns:p14="http://schemas.microsoft.com/office/powerpoint/2010/main" val="12998751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Liner search in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8192"/>
            <a:ext cx="10515600" cy="470877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list = [10, 5, 7, 2, 8, 12]</a:t>
            </a:r>
          </a:p>
          <a:p>
            <a:pPr marL="0" indent="0">
              <a:buNone/>
            </a:pPr>
            <a:r>
              <a:rPr lang="en-US" dirty="0"/>
              <a:t>target = 7</a:t>
            </a:r>
          </a:p>
          <a:p>
            <a:pPr marL="0" indent="0">
              <a:buNone/>
            </a:pPr>
            <a:r>
              <a:rPr lang="en-US" dirty="0"/>
              <a:t># Variable to hold the index of the target</a:t>
            </a:r>
          </a:p>
          <a:p>
            <a:pPr marL="0" indent="0">
              <a:buNone/>
            </a:pPr>
            <a:r>
              <a:rPr lang="en-US" dirty="0" err="1"/>
              <a:t>index_found</a:t>
            </a:r>
            <a:r>
              <a:rPr lang="en-US" dirty="0"/>
              <a:t> = -1</a:t>
            </a:r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</a:t>
            </a:r>
            <a:r>
              <a:rPr lang="en-US" dirty="0" err="1"/>
              <a:t>len</a:t>
            </a:r>
            <a:r>
              <a:rPr lang="en-US" dirty="0"/>
              <a:t>(list)):</a:t>
            </a:r>
          </a:p>
          <a:p>
            <a:pPr marL="0" indent="0">
              <a:buNone/>
            </a:pPr>
            <a:r>
              <a:rPr lang="en-US" dirty="0"/>
              <a:t>    if list[</a:t>
            </a:r>
            <a:r>
              <a:rPr lang="en-US" dirty="0" err="1"/>
              <a:t>i</a:t>
            </a:r>
            <a:r>
              <a:rPr lang="en-US" dirty="0"/>
              <a:t>] == target: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index_found</a:t>
            </a:r>
            <a:r>
              <a:rPr lang="en-US" dirty="0"/>
              <a:t> = </a:t>
            </a:r>
            <a:r>
              <a:rPr lang="en-US" dirty="0" err="1"/>
              <a:t>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break  # Exit the loop once the target is found</a:t>
            </a:r>
          </a:p>
          <a:p>
            <a:pPr marL="0" indent="0">
              <a:buNone/>
            </a:pPr>
            <a:r>
              <a:rPr lang="en-US" dirty="0"/>
              <a:t>if </a:t>
            </a:r>
            <a:r>
              <a:rPr lang="en-US" dirty="0" err="1"/>
              <a:t>index_found</a:t>
            </a:r>
            <a:r>
              <a:rPr lang="en-US" dirty="0"/>
              <a:t> != -1:</a:t>
            </a:r>
          </a:p>
          <a:p>
            <a:pPr marL="0" indent="0">
              <a:buNone/>
            </a:pPr>
            <a:r>
              <a:rPr lang="en-US" dirty="0"/>
              <a:t>    print(</a:t>
            </a:r>
            <a:r>
              <a:rPr lang="en-US" dirty="0" err="1"/>
              <a:t>f"Target</a:t>
            </a:r>
            <a:r>
              <a:rPr lang="en-US" dirty="0"/>
              <a:t> {target} found at index {</a:t>
            </a:r>
            <a:r>
              <a:rPr lang="en-US" dirty="0" err="1"/>
              <a:t>index_found</a:t>
            </a:r>
            <a:r>
              <a:rPr lang="en-US" dirty="0"/>
              <a:t>}")</a:t>
            </a:r>
          </a:p>
          <a:p>
            <a:pPr marL="0" indent="0">
              <a:buNone/>
            </a:pPr>
            <a:r>
              <a:rPr lang="en-US" dirty="0"/>
              <a:t>else:</a:t>
            </a:r>
          </a:p>
          <a:p>
            <a:pPr marL="0" indent="0">
              <a:buNone/>
            </a:pPr>
            <a:r>
              <a:rPr lang="en-US" dirty="0"/>
              <a:t>    print(</a:t>
            </a:r>
            <a:r>
              <a:rPr lang="en-US" dirty="0" err="1"/>
              <a:t>f"Target</a:t>
            </a:r>
            <a:r>
              <a:rPr lang="en-US" dirty="0"/>
              <a:t> {target} not found in the list")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6466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Creating a dictionary to store names and ages</a:t>
            </a:r>
          </a:p>
          <a:p>
            <a:pPr marL="0" indent="0">
              <a:buNone/>
            </a:pPr>
            <a:r>
              <a:rPr lang="en-US" dirty="0" err="1"/>
              <a:t>person_dict</a:t>
            </a:r>
            <a:r>
              <a:rPr lang="en-US" dirty="0"/>
              <a:t> = {</a:t>
            </a:r>
          </a:p>
          <a:p>
            <a:pPr marL="0" indent="0">
              <a:buNone/>
            </a:pPr>
            <a:r>
              <a:rPr lang="en-US" dirty="0"/>
              <a:t>    "Alice": 30,</a:t>
            </a:r>
          </a:p>
          <a:p>
            <a:pPr marL="0" indent="0">
              <a:buNone/>
            </a:pPr>
            <a:r>
              <a:rPr lang="en-US" dirty="0"/>
              <a:t>    "Bob": 25,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Accessing values in the dictionary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person_dict</a:t>
            </a:r>
            <a:r>
              <a:rPr lang="en-US" dirty="0"/>
              <a:t>["Alice"])</a:t>
            </a:r>
          </a:p>
          <a:p>
            <a:pPr marL="0" indent="0">
              <a:buNone/>
            </a:pPr>
            <a:r>
              <a:rPr lang="en-US" dirty="0"/>
              <a:t>print("Age of Bob:", </a:t>
            </a:r>
            <a:r>
              <a:rPr lang="en-US" dirty="0" err="1"/>
              <a:t>person_dict</a:t>
            </a:r>
            <a:r>
              <a:rPr lang="en-US" dirty="0"/>
              <a:t>["Bob"])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9274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Adding a new entry</a:t>
            </a:r>
          </a:p>
          <a:p>
            <a:pPr marL="0" indent="0">
              <a:buNone/>
            </a:pPr>
            <a:r>
              <a:rPr lang="en-US" dirty="0" err="1"/>
              <a:t>person_dict</a:t>
            </a:r>
            <a:r>
              <a:rPr lang="en-US" dirty="0"/>
              <a:t>["Frank"] = 40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Updating an existing entry</a:t>
            </a:r>
          </a:p>
          <a:p>
            <a:pPr marL="0" indent="0">
              <a:buNone/>
            </a:pPr>
            <a:r>
              <a:rPr lang="en-US" dirty="0" err="1"/>
              <a:t>person_dict</a:t>
            </a:r>
            <a:r>
              <a:rPr lang="en-US" dirty="0"/>
              <a:t>["David"] = 29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Deleting an entry</a:t>
            </a:r>
          </a:p>
          <a:p>
            <a:pPr marL="0" indent="0">
              <a:buNone/>
            </a:pPr>
            <a:r>
              <a:rPr lang="en-US" dirty="0"/>
              <a:t>del </a:t>
            </a:r>
            <a:r>
              <a:rPr lang="en-US" dirty="0" err="1"/>
              <a:t>person_dict</a:t>
            </a:r>
            <a:r>
              <a:rPr lang="en-US" dirty="0"/>
              <a:t>["Eve"]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Printing the updated dictionary</a:t>
            </a:r>
          </a:p>
          <a:p>
            <a:pPr marL="0" indent="0">
              <a:buNone/>
            </a:pPr>
            <a:r>
              <a:rPr lang="en-US" dirty="0"/>
              <a:t>print("Updated dictionary:")</a:t>
            </a:r>
          </a:p>
          <a:p>
            <a:pPr marL="0" indent="0">
              <a:buNone/>
            </a:pPr>
            <a:r>
              <a:rPr lang="en-US" dirty="0"/>
              <a:t>for name, age in </a:t>
            </a:r>
            <a:r>
              <a:rPr lang="en-US" dirty="0" err="1"/>
              <a:t>person_dict.items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    print(f"{name}: {age}")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Printing the updated dictionary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</a:t>
            </a:r>
            <a:r>
              <a:rPr lang="en-US" dirty="0" err="1"/>
              <a:t>dict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489969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2629"/>
            <a:ext cx="10515600" cy="1325563"/>
          </a:xfrm>
        </p:spPr>
        <p:txBody>
          <a:bodyPr/>
          <a:lstStyle/>
          <a:p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8192"/>
            <a:ext cx="10515600" cy="470877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import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numpy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as np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Convert Python lists or tuples to arrays.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np.array</a:t>
            </a:r>
            <a:r>
              <a:rPr lang="en-US" dirty="0"/>
              <a:t>([1, 2, 3, 4, 5])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Create an array filled with zeros.</a:t>
            </a:r>
          </a:p>
          <a:p>
            <a:pPr marL="0" indent="0">
              <a:buNone/>
            </a:pPr>
            <a:r>
              <a:rPr lang="en-US" dirty="0" err="1"/>
              <a:t>zeros_arr</a:t>
            </a:r>
            <a:r>
              <a:rPr lang="en-US" dirty="0"/>
              <a:t> = </a:t>
            </a:r>
            <a:r>
              <a:rPr lang="en-US" dirty="0" err="1"/>
              <a:t>np.zeros</a:t>
            </a:r>
            <a:r>
              <a:rPr lang="en-US" dirty="0"/>
              <a:t>((2, 3))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np.ones</a:t>
            </a:r>
            <a:r>
              <a:rPr lang="en-US" b="1" dirty="0">
                <a:solidFill>
                  <a:srgbClr val="FF0000"/>
                </a:solidFill>
              </a:rPr>
              <a:t>():</a:t>
            </a:r>
            <a:r>
              <a:rPr lang="en-US" dirty="0">
                <a:solidFill>
                  <a:srgbClr val="FF0000"/>
                </a:solidFill>
              </a:rPr>
              <a:t> Create an array </a:t>
            </a:r>
            <a:r>
              <a:rPr lang="en-US" dirty="0" err="1">
                <a:solidFill>
                  <a:srgbClr val="FF0000"/>
                </a:solidFill>
              </a:rPr>
              <a:t>fille</a:t>
            </a:r>
            <a:r>
              <a:rPr lang="en-US" dirty="0">
                <a:solidFill>
                  <a:srgbClr val="FF0000"/>
                </a:solidFill>
              </a:rPr>
              <a:t> with ones</a:t>
            </a:r>
          </a:p>
          <a:p>
            <a:pPr marL="0" indent="0">
              <a:buNone/>
            </a:pPr>
            <a:r>
              <a:rPr lang="en-US" dirty="0" err="1"/>
              <a:t>ones_arr</a:t>
            </a:r>
            <a:r>
              <a:rPr lang="en-US" dirty="0"/>
              <a:t> = </a:t>
            </a:r>
            <a:r>
              <a:rPr lang="en-US" dirty="0" err="1"/>
              <a:t>np.ones</a:t>
            </a:r>
            <a:r>
              <a:rPr lang="en-US" dirty="0"/>
              <a:t>((3, 2)) 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np.arange</a:t>
            </a:r>
            <a:r>
              <a:rPr lang="en-US" b="1" dirty="0">
                <a:solidFill>
                  <a:srgbClr val="FF0000"/>
                </a:solidFill>
              </a:rPr>
              <a:t>():</a:t>
            </a:r>
            <a:r>
              <a:rPr lang="en-US" dirty="0">
                <a:solidFill>
                  <a:srgbClr val="FF0000"/>
                </a:solidFill>
              </a:rPr>
              <a:t> Create an array with values that are evenly spaced within a specified range.</a:t>
            </a:r>
          </a:p>
          <a:p>
            <a:pPr marL="0" indent="0">
              <a:buNone/>
            </a:pPr>
            <a:r>
              <a:rPr lang="en-US" dirty="0"/>
              <a:t>range = </a:t>
            </a:r>
            <a:r>
              <a:rPr lang="en-US" dirty="0" err="1"/>
              <a:t>np.arange</a:t>
            </a:r>
            <a:r>
              <a:rPr lang="en-US" dirty="0"/>
              <a:t>(0, 10, 2)  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43242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operations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np.array</a:t>
            </a:r>
            <a:r>
              <a:rPr lang="en-US" dirty="0"/>
              <a:t>([1, 2, 3])</a:t>
            </a:r>
          </a:p>
          <a:p>
            <a:pPr marL="0" indent="0">
              <a:buNone/>
            </a:pPr>
            <a:r>
              <a:rPr lang="en-US" dirty="0"/>
              <a:t>arr2 = </a:t>
            </a:r>
            <a:r>
              <a:rPr lang="en-US" dirty="0" err="1"/>
              <a:t>np.array</a:t>
            </a:r>
            <a:r>
              <a:rPr lang="en-US" dirty="0"/>
              <a:t>([1, 2, 3])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arr</a:t>
            </a:r>
            <a:r>
              <a:rPr lang="en-US" dirty="0"/>
              <a:t> + arr2 )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arr</a:t>
            </a:r>
            <a:r>
              <a:rPr lang="en-US" dirty="0"/>
              <a:t> - arr2 )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arr</a:t>
            </a:r>
            <a:r>
              <a:rPr lang="en-US" dirty="0"/>
              <a:t> * arr2 )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080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Dot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ones = </a:t>
            </a:r>
            <a:r>
              <a:rPr lang="en-US" dirty="0" err="1"/>
              <a:t>np.ones</a:t>
            </a:r>
            <a:r>
              <a:rPr lang="en-US" dirty="0"/>
              <a:t>((3, 2)) </a:t>
            </a:r>
          </a:p>
          <a:p>
            <a:pPr marL="0" indent="0">
              <a:buNone/>
            </a:pPr>
            <a:r>
              <a:rPr lang="en-US" dirty="0"/>
              <a:t>zeros = </a:t>
            </a:r>
            <a:r>
              <a:rPr lang="en-US" dirty="0" err="1"/>
              <a:t>np.zeros</a:t>
            </a:r>
            <a:r>
              <a:rPr lang="en-US" dirty="0"/>
              <a:t>((3, 2))</a:t>
            </a:r>
          </a:p>
          <a:p>
            <a:pPr marL="0" indent="0">
              <a:buNone/>
            </a:pPr>
            <a:r>
              <a:rPr lang="en-US" dirty="0"/>
              <a:t>result = np.dot(</a:t>
            </a:r>
            <a:r>
              <a:rPr lang="en-US" dirty="0" err="1"/>
              <a:t>ones.flatten</a:t>
            </a:r>
            <a:r>
              <a:rPr lang="en-US" dirty="0"/>
              <a:t>(), </a:t>
            </a:r>
            <a:r>
              <a:rPr lang="en-US" dirty="0" err="1"/>
              <a:t>zeros.flatten</a:t>
            </a:r>
            <a:r>
              <a:rPr lang="en-US" dirty="0"/>
              <a:t>())</a:t>
            </a:r>
          </a:p>
          <a:p>
            <a:pPr marL="0" indent="0">
              <a:buNone/>
            </a:pPr>
            <a:r>
              <a:rPr lang="en-US" dirty="0"/>
              <a:t>print(result)</a:t>
            </a:r>
          </a:p>
        </p:txBody>
      </p:sp>
    </p:spTree>
    <p:extLst>
      <p:ext uri="{BB962C8B-B14F-4D97-AF65-F5344CB8AC3E}">
        <p14:creationId xmlns:p14="http://schemas.microsoft.com/office/powerpoint/2010/main" val="221099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Mean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Define an array</a:t>
            </a:r>
          </a:p>
          <a:p>
            <a:pPr marL="0" indent="0">
              <a:buNone/>
            </a:pPr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np.array</a:t>
            </a:r>
            <a:r>
              <a:rPr lang="en-US" dirty="0"/>
              <a:t>([1, 2, 3, 4, 5])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Calculate the mean</a:t>
            </a:r>
          </a:p>
          <a:p>
            <a:pPr marL="0" indent="0">
              <a:buNone/>
            </a:pPr>
            <a:r>
              <a:rPr lang="en-US" dirty="0" err="1"/>
              <a:t>mean_value</a:t>
            </a:r>
            <a:r>
              <a:rPr lang="en-US" dirty="0"/>
              <a:t> = </a:t>
            </a:r>
            <a:r>
              <a:rPr lang="en-US" dirty="0" err="1"/>
              <a:t>np.mean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Print the mean</a:t>
            </a:r>
          </a:p>
          <a:p>
            <a:pPr marL="0" indent="0">
              <a:buNone/>
            </a:pPr>
            <a:r>
              <a:rPr lang="en-US" dirty="0"/>
              <a:t>print("Mean:", </a:t>
            </a:r>
            <a:r>
              <a:rPr lang="en-US" dirty="0" err="1"/>
              <a:t>mean_value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4810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Deviation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Define an array</a:t>
            </a:r>
          </a:p>
          <a:p>
            <a:pPr marL="0" indent="0">
              <a:buNone/>
            </a:pPr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np.array</a:t>
            </a:r>
            <a:r>
              <a:rPr lang="en-US" dirty="0"/>
              <a:t>([1, 2, 3, 4, 5])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Calculate the standard deviation</a:t>
            </a:r>
          </a:p>
          <a:p>
            <a:pPr marL="0" indent="0">
              <a:buNone/>
            </a:pPr>
            <a:r>
              <a:rPr lang="en-US" dirty="0" err="1"/>
              <a:t>std_value</a:t>
            </a:r>
            <a:r>
              <a:rPr lang="en-US" dirty="0"/>
              <a:t> = </a:t>
            </a:r>
            <a:r>
              <a:rPr lang="en-US" dirty="0" err="1"/>
              <a:t>np.std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Print the standard deviation</a:t>
            </a:r>
          </a:p>
          <a:p>
            <a:pPr marL="0" indent="0">
              <a:buNone/>
            </a:pPr>
            <a:r>
              <a:rPr lang="en-US" dirty="0"/>
              <a:t>print("Standard Deviation:", </a:t>
            </a:r>
            <a:r>
              <a:rPr lang="en-US" dirty="0" err="1"/>
              <a:t>std_value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8665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Define an array</a:t>
            </a:r>
          </a:p>
          <a:p>
            <a:pPr marL="0" indent="0">
              <a:buNone/>
            </a:pPr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np.array</a:t>
            </a:r>
            <a:r>
              <a:rPr lang="en-US" dirty="0"/>
              <a:t>([1, 2, 3, 4, 5])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Find the minimum value</a:t>
            </a:r>
          </a:p>
          <a:p>
            <a:pPr marL="0" indent="0">
              <a:buNone/>
            </a:pPr>
            <a:r>
              <a:rPr lang="en-US" dirty="0" err="1"/>
              <a:t>min_value</a:t>
            </a:r>
            <a:r>
              <a:rPr lang="en-US" dirty="0"/>
              <a:t> = </a:t>
            </a:r>
            <a:r>
              <a:rPr lang="en-US" dirty="0" err="1"/>
              <a:t>np.min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Print the minimum value</a:t>
            </a:r>
          </a:p>
          <a:p>
            <a:pPr marL="0" indent="0">
              <a:buNone/>
            </a:pPr>
            <a:r>
              <a:rPr lang="en-US" dirty="0"/>
              <a:t>print("Minimum Value:", </a:t>
            </a:r>
            <a:r>
              <a:rPr lang="en-US" dirty="0" err="1"/>
              <a:t>min_value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5919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Define an array</a:t>
            </a:r>
          </a:p>
          <a:p>
            <a:pPr marL="0" indent="0">
              <a:buNone/>
            </a:pPr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np.array</a:t>
            </a:r>
            <a:r>
              <a:rPr lang="en-US" dirty="0"/>
              <a:t>([1, 2, 3, 4, 5])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Find the maximum value</a:t>
            </a:r>
          </a:p>
          <a:p>
            <a:pPr marL="0" indent="0">
              <a:buNone/>
            </a:pPr>
            <a:r>
              <a:rPr lang="en-US" dirty="0" err="1"/>
              <a:t>max_value</a:t>
            </a:r>
            <a:r>
              <a:rPr lang="en-US" dirty="0"/>
              <a:t> = </a:t>
            </a:r>
            <a:r>
              <a:rPr lang="en-US" dirty="0" err="1"/>
              <a:t>np.max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Print the maximum value</a:t>
            </a:r>
          </a:p>
          <a:p>
            <a:pPr marL="0" indent="0">
              <a:buNone/>
            </a:pPr>
            <a:r>
              <a:rPr lang="en-US" dirty="0"/>
              <a:t>print("Maximum Value:", </a:t>
            </a:r>
            <a:r>
              <a:rPr lang="en-US" dirty="0" err="1"/>
              <a:t>max_value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4723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err="1"/>
              <a:t>arr</a:t>
            </a:r>
            <a:r>
              <a:rPr lang="en-US" sz="3200" dirty="0"/>
              <a:t> = </a:t>
            </a:r>
            <a:r>
              <a:rPr lang="en-US" sz="3200" dirty="0" err="1"/>
              <a:t>np.array</a:t>
            </a:r>
            <a:r>
              <a:rPr lang="en-US" sz="3200" dirty="0"/>
              <a:t>([1, 2, 3, 4, 5])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</a:rPr>
              <a:t>(if any element is less than 3)</a:t>
            </a:r>
          </a:p>
          <a:p>
            <a:pPr marL="0" indent="0">
              <a:buNone/>
            </a:pPr>
            <a:r>
              <a:rPr lang="en-US" sz="3200" dirty="0" err="1"/>
              <a:t>arr</a:t>
            </a:r>
            <a:r>
              <a:rPr lang="en-US" sz="3200" dirty="0"/>
              <a:t> &lt; 3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265745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Plotting x and 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import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numpy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as np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import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matplotlib.pyplot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as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plt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6351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316" t="35182" r="49087" b="17152"/>
          <a:stretch/>
        </p:blipFill>
        <p:spPr>
          <a:xfrm>
            <a:off x="1919451" y="715406"/>
            <a:ext cx="7035338" cy="5151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1153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172" t="33131" r="44764" b="15871"/>
          <a:stretch/>
        </p:blipFill>
        <p:spPr>
          <a:xfrm>
            <a:off x="1751690" y="434896"/>
            <a:ext cx="8623988" cy="602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2576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315" t="29544" r="47215" b="15614"/>
          <a:stretch/>
        </p:blipFill>
        <p:spPr>
          <a:xfrm>
            <a:off x="1962615" y="618725"/>
            <a:ext cx="7460165" cy="597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4780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316" t="25444" r="46350" b="20226"/>
          <a:stretch/>
        </p:blipFill>
        <p:spPr>
          <a:xfrm>
            <a:off x="1625185" y="524107"/>
            <a:ext cx="7931410" cy="615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1243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027" t="36976" r="45197" b="9720"/>
          <a:stretch/>
        </p:blipFill>
        <p:spPr>
          <a:xfrm>
            <a:off x="1727903" y="735981"/>
            <a:ext cx="7479839" cy="549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6547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460" t="34670" r="44909" b="11769"/>
          <a:stretch/>
        </p:blipFill>
        <p:spPr>
          <a:xfrm>
            <a:off x="1258646" y="345687"/>
            <a:ext cx="8465218" cy="6273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4818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3811" t="40971" r="45305" b="8110"/>
          <a:stretch/>
        </p:blipFill>
        <p:spPr>
          <a:xfrm>
            <a:off x="1293540" y="457200"/>
            <a:ext cx="8679247" cy="607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93087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316" t="25956" r="43612" b="21252"/>
          <a:stretch/>
        </p:blipFill>
        <p:spPr>
          <a:xfrm>
            <a:off x="1115680" y="327579"/>
            <a:ext cx="8697952" cy="613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4020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172" t="27750" r="45918" b="18433"/>
          <a:stretch/>
        </p:blipFill>
        <p:spPr>
          <a:xfrm>
            <a:off x="1349512" y="301081"/>
            <a:ext cx="8307445" cy="629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9564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172" t="33645" r="47358" b="14076"/>
          <a:stretch/>
        </p:blipFill>
        <p:spPr>
          <a:xfrm>
            <a:off x="1460810" y="433894"/>
            <a:ext cx="8408018" cy="64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8663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 the given Graph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460" t="24162" r="40010" b="22533"/>
          <a:stretch/>
        </p:blipFill>
        <p:spPr>
          <a:xfrm>
            <a:off x="2653989" y="2129884"/>
            <a:ext cx="6824547" cy="449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4080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0D23A1-0CCB-8AFF-C00B-37DA597D10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02" y="536892"/>
            <a:ext cx="11568430" cy="578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6863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Plotting x and 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import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numpy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as np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import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matplotlib.pyplot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as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plt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/>
              <a:t>xpoints</a:t>
            </a:r>
            <a:r>
              <a:rPr lang="en-US" dirty="0"/>
              <a:t> = </a:t>
            </a:r>
            <a:r>
              <a:rPr lang="en-US" dirty="0" err="1"/>
              <a:t>np.array</a:t>
            </a:r>
            <a:r>
              <a:rPr lang="en-US" dirty="0"/>
              <a:t>([1,8])</a:t>
            </a:r>
          </a:p>
          <a:p>
            <a:pPr marL="0" indent="0">
              <a:buNone/>
            </a:pPr>
            <a:r>
              <a:rPr lang="en-US" dirty="0" err="1"/>
              <a:t>ypoints</a:t>
            </a:r>
            <a:r>
              <a:rPr lang="en-US" dirty="0"/>
              <a:t> = </a:t>
            </a:r>
            <a:r>
              <a:rPr lang="en-US" dirty="0" err="1"/>
              <a:t>np.array</a:t>
            </a:r>
            <a:r>
              <a:rPr lang="en-US" dirty="0"/>
              <a:t>([3,10])</a:t>
            </a:r>
          </a:p>
          <a:p>
            <a:pPr marL="0" indent="0">
              <a:buNone/>
            </a:pPr>
            <a:r>
              <a:rPr lang="en-US" dirty="0" err="1"/>
              <a:t>plt.plot</a:t>
            </a:r>
            <a:r>
              <a:rPr lang="en-US" dirty="0"/>
              <a:t>(</a:t>
            </a:r>
            <a:r>
              <a:rPr lang="en-US" dirty="0" err="1"/>
              <a:t>xpoints</a:t>
            </a:r>
            <a:r>
              <a:rPr lang="en-US" dirty="0"/>
              <a:t>, </a:t>
            </a:r>
            <a:r>
              <a:rPr lang="en-US" dirty="0" err="1"/>
              <a:t>ypoints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74116692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417" y="0"/>
            <a:ext cx="10515600" cy="703821"/>
          </a:xfrm>
        </p:spPr>
        <p:txBody>
          <a:bodyPr/>
          <a:lstStyle/>
          <a:p>
            <a:r>
              <a:rPr lang="en-US" dirty="0"/>
              <a:t>More Expressive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6684" y="861341"/>
            <a:ext cx="10515600" cy="52625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500" dirty="0"/>
              <a:t>import </a:t>
            </a:r>
            <a:r>
              <a:rPr lang="en-US" sz="1500" dirty="0" err="1"/>
              <a:t>numpy</a:t>
            </a:r>
            <a:r>
              <a:rPr lang="en-US" sz="1500" dirty="0"/>
              <a:t> as np</a:t>
            </a:r>
          </a:p>
          <a:p>
            <a:pPr marL="0" indent="0">
              <a:buNone/>
            </a:pPr>
            <a:r>
              <a:rPr lang="en-US" sz="1500" dirty="0"/>
              <a:t>import </a:t>
            </a:r>
            <a:r>
              <a:rPr lang="en-US" sz="1500" dirty="0" err="1"/>
              <a:t>matplotlib.pyplot</a:t>
            </a:r>
            <a:r>
              <a:rPr lang="en-US" sz="1500" dirty="0"/>
              <a:t> as </a:t>
            </a:r>
            <a:r>
              <a:rPr lang="en-US" sz="1500" dirty="0" err="1"/>
              <a:t>plt</a:t>
            </a:r>
            <a:endParaRPr lang="en-US" sz="1500" dirty="0"/>
          </a:p>
          <a:p>
            <a:pPr marL="0" indent="0">
              <a:buNone/>
            </a:pPr>
            <a:r>
              <a:rPr lang="en-US" sz="1500" dirty="0"/>
              <a:t>x = [1, 2, 3, 4, 5]</a:t>
            </a:r>
          </a:p>
          <a:p>
            <a:pPr marL="0" indent="0">
              <a:buNone/>
            </a:pPr>
            <a:r>
              <a:rPr lang="en-US" sz="1500" dirty="0"/>
              <a:t>y = [1, 4, 9, 16, 25]</a:t>
            </a:r>
          </a:p>
          <a:p>
            <a:pPr marL="0" indent="0">
              <a:buNone/>
            </a:pPr>
            <a:r>
              <a:rPr lang="en-US" sz="2400" dirty="0" err="1"/>
              <a:t>plt.plot</a:t>
            </a:r>
            <a:r>
              <a:rPr lang="en-US" sz="2400" dirty="0"/>
              <a:t>(x, y, marker='s', </a:t>
            </a:r>
            <a:r>
              <a:rPr lang="en-US" sz="2400" dirty="0" err="1"/>
              <a:t>linestyle</a:t>
            </a:r>
            <a:r>
              <a:rPr lang="en-US" sz="2400" dirty="0"/>
              <a:t>='--', color='r', linewidth=‘3, </a:t>
            </a:r>
            <a:r>
              <a:rPr lang="en-US" sz="2400" dirty="0">
                <a:solidFill>
                  <a:schemeClr val="accent1"/>
                </a:solidFill>
              </a:rPr>
              <a:t>label='x vs y</a:t>
            </a:r>
            <a:r>
              <a:rPr lang="en-US" sz="2400" dirty="0"/>
              <a:t>’) </a:t>
            </a:r>
            <a:r>
              <a:rPr lang="en-US" sz="2400" dirty="0">
                <a:solidFill>
                  <a:srgbClr val="FF0000"/>
                </a:solidFill>
              </a:rPr>
              <a:t>#Styling</a:t>
            </a:r>
            <a:endParaRPr lang="en-US" sz="2400" dirty="0"/>
          </a:p>
          <a:p>
            <a:pPr marL="0" indent="0">
              <a:buNone/>
            </a:pPr>
            <a:r>
              <a:rPr lang="en-US" dirty="0" err="1"/>
              <a:t>plt.xlabel</a:t>
            </a:r>
            <a:r>
              <a:rPr lang="en-US" dirty="0"/>
              <a:t>('X Axis')</a:t>
            </a:r>
            <a:r>
              <a:rPr lang="en-US" dirty="0">
                <a:solidFill>
                  <a:srgbClr val="FF0000"/>
                </a:solidFill>
              </a:rPr>
              <a:t> #label on x axis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plt.ylabel</a:t>
            </a:r>
            <a:r>
              <a:rPr lang="en-US" dirty="0"/>
              <a:t>('Y Axis')</a:t>
            </a:r>
            <a:r>
              <a:rPr lang="en-US" dirty="0">
                <a:solidFill>
                  <a:srgbClr val="FF0000"/>
                </a:solidFill>
              </a:rPr>
              <a:t> #label on y axis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plt.title</a:t>
            </a:r>
            <a:r>
              <a:rPr lang="en-US" dirty="0"/>
              <a:t>('Two Plots Example')</a:t>
            </a:r>
            <a:r>
              <a:rPr lang="en-US" dirty="0">
                <a:solidFill>
                  <a:srgbClr val="FF0000"/>
                </a:solidFill>
              </a:rPr>
              <a:t> #Title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plt.legend</a:t>
            </a:r>
            <a:r>
              <a:rPr lang="en-US" dirty="0"/>
              <a:t>()</a:t>
            </a:r>
            <a:r>
              <a:rPr lang="en-US" dirty="0">
                <a:solidFill>
                  <a:srgbClr val="FF0000"/>
                </a:solidFill>
              </a:rPr>
              <a:t>        #legend</a:t>
            </a:r>
          </a:p>
          <a:p>
            <a:pPr marL="0" indent="0">
              <a:buNone/>
            </a:pPr>
            <a:r>
              <a:rPr lang="en-US" dirty="0" err="1"/>
              <a:t>plt.fill_between</a:t>
            </a:r>
            <a:r>
              <a:rPr lang="en-US" dirty="0"/>
              <a:t>(x, y)      </a:t>
            </a:r>
            <a:r>
              <a:rPr lang="en-US" dirty="0">
                <a:solidFill>
                  <a:srgbClr val="FF0000"/>
                </a:solidFill>
              </a:rPr>
              <a:t>#fill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plt.grid</a:t>
            </a:r>
            <a:r>
              <a:rPr lang="en-US" dirty="0">
                <a:solidFill>
                  <a:schemeClr val="accent1"/>
                </a:solidFill>
              </a:rPr>
              <a:t>(True)     </a:t>
            </a:r>
            <a:r>
              <a:rPr lang="en-US">
                <a:solidFill>
                  <a:srgbClr val="FF0000"/>
                </a:solidFill>
              </a:rPr>
              <a:t>#grid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4999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Without Line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5169" y="1413501"/>
            <a:ext cx="10515600" cy="4351338"/>
          </a:xfrm>
        </p:spPr>
        <p:txBody>
          <a:bodyPr/>
          <a:lstStyle/>
          <a:p>
            <a:r>
              <a:rPr lang="en-US" dirty="0" err="1"/>
              <a:t>plt.plot</a:t>
            </a:r>
            <a:r>
              <a:rPr lang="en-US" dirty="0"/>
              <a:t>(</a:t>
            </a:r>
            <a:r>
              <a:rPr lang="en-US" dirty="0" err="1"/>
              <a:t>xpoints</a:t>
            </a:r>
            <a:r>
              <a:rPr lang="en-US" dirty="0"/>
              <a:t>, </a:t>
            </a:r>
            <a:r>
              <a:rPr lang="en-US" dirty="0" err="1"/>
              <a:t>ypoints</a:t>
            </a:r>
            <a:r>
              <a:rPr lang="en-US" dirty="0"/>
              <a:t>, 'o')</a:t>
            </a:r>
          </a:p>
        </p:txBody>
      </p:sp>
    </p:spTree>
    <p:extLst>
      <p:ext uri="{BB962C8B-B14F-4D97-AF65-F5344CB8AC3E}">
        <p14:creationId xmlns:p14="http://schemas.microsoft.com/office/powerpoint/2010/main" val="84132764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 2 lines in a graph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xpoints</a:t>
            </a:r>
            <a:r>
              <a:rPr lang="en-US" dirty="0"/>
              <a:t> = </a:t>
            </a:r>
            <a:r>
              <a:rPr lang="en-US" dirty="0" err="1"/>
              <a:t>np.array</a:t>
            </a:r>
            <a:r>
              <a:rPr lang="en-US" dirty="0"/>
              <a:t>([1, 8, 9,10])</a:t>
            </a:r>
          </a:p>
          <a:p>
            <a:pPr marL="0" indent="0">
              <a:buNone/>
            </a:pPr>
            <a:r>
              <a:rPr lang="en-US" dirty="0" err="1"/>
              <a:t>ypoints</a:t>
            </a:r>
            <a:r>
              <a:rPr lang="en-US" dirty="0"/>
              <a:t> = </a:t>
            </a:r>
            <a:r>
              <a:rPr lang="en-US" dirty="0" err="1"/>
              <a:t>np.array</a:t>
            </a:r>
            <a:r>
              <a:rPr lang="en-US" dirty="0"/>
              <a:t>([3, 10, 13,15])</a:t>
            </a:r>
          </a:p>
          <a:p>
            <a:pPr marL="0" indent="0">
              <a:buNone/>
            </a:pPr>
            <a:r>
              <a:rPr lang="en-US" dirty="0" err="1"/>
              <a:t>plt.plot</a:t>
            </a:r>
            <a:r>
              <a:rPr lang="en-US" dirty="0"/>
              <a:t>(</a:t>
            </a:r>
            <a:r>
              <a:rPr lang="en-US" dirty="0" err="1"/>
              <a:t>xpoints</a:t>
            </a:r>
            <a:r>
              <a:rPr lang="en-US" dirty="0"/>
              <a:t>, </a:t>
            </a:r>
            <a:r>
              <a:rPr lang="en-US" dirty="0" err="1"/>
              <a:t>ypoints</a:t>
            </a:r>
            <a:r>
              <a:rPr lang="en-US" dirty="0"/>
              <a:t>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x = [1, 2, 3, 4, 5]</a:t>
            </a:r>
          </a:p>
          <a:p>
            <a:pPr marL="0" indent="0">
              <a:buNone/>
            </a:pPr>
            <a:r>
              <a:rPr lang="en-US" dirty="0"/>
              <a:t>y = [1, 4, 9, 16, 25]</a:t>
            </a:r>
          </a:p>
          <a:p>
            <a:pPr marL="0" indent="0">
              <a:buNone/>
            </a:pPr>
            <a:r>
              <a:rPr lang="en-US" dirty="0" err="1"/>
              <a:t>plt.plot</a:t>
            </a:r>
            <a:r>
              <a:rPr lang="en-US" dirty="0"/>
              <a:t>(x, y)</a:t>
            </a:r>
          </a:p>
        </p:txBody>
      </p:sp>
    </p:spTree>
    <p:extLst>
      <p:ext uri="{BB962C8B-B14F-4D97-AF65-F5344CB8AC3E}">
        <p14:creationId xmlns:p14="http://schemas.microsoft.com/office/powerpoint/2010/main" val="25126469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 a Graph without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x = [1, 2, 3, 4, 5]</a:t>
            </a:r>
          </a:p>
          <a:p>
            <a:pPr marL="0" indent="0">
              <a:buNone/>
            </a:pPr>
            <a:r>
              <a:rPr lang="en-US" dirty="0"/>
              <a:t>y = [1, 4, 9, 16, 25]</a:t>
            </a:r>
          </a:p>
          <a:p>
            <a:pPr marL="0" indent="0">
              <a:buNone/>
            </a:pPr>
            <a:r>
              <a:rPr lang="en-US" dirty="0" err="1"/>
              <a:t>plt.plot</a:t>
            </a:r>
            <a:r>
              <a:rPr lang="en-US" dirty="0"/>
              <a:t>(x, y)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2690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 Adding title and labels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plt.title</a:t>
            </a:r>
            <a:r>
              <a:rPr lang="en-US" dirty="0"/>
              <a:t>(My First Ai Plot')</a:t>
            </a:r>
          </a:p>
          <a:p>
            <a:pPr marL="0" indent="0">
              <a:buNone/>
            </a:pPr>
            <a:r>
              <a:rPr lang="en-US" dirty="0" err="1"/>
              <a:t>plt.xlabel</a:t>
            </a:r>
            <a:r>
              <a:rPr lang="en-US" dirty="0"/>
              <a:t>('X-axis')</a:t>
            </a:r>
          </a:p>
          <a:p>
            <a:pPr marL="0" indent="0">
              <a:buNone/>
            </a:pPr>
            <a:r>
              <a:rPr lang="en-US" dirty="0" err="1"/>
              <a:t>plt.ylabel</a:t>
            </a:r>
            <a:r>
              <a:rPr lang="en-US" dirty="0"/>
              <a:t>('Y-axis')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564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11003</TotalTime>
  <Words>2195</Words>
  <Application>Microsoft Office PowerPoint</Application>
  <PresentationFormat>Widescreen</PresentationFormat>
  <Paragraphs>350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2" baseType="lpstr">
      <vt:lpstr>Arial Unicode MS</vt:lpstr>
      <vt:lpstr>Arial</vt:lpstr>
      <vt:lpstr>Arial Narrow</vt:lpstr>
      <vt:lpstr>Bahnschrift Light Condensed</vt:lpstr>
      <vt:lpstr>Calibri</vt:lpstr>
      <vt:lpstr>Calibri Light</vt:lpstr>
      <vt:lpstr>Office Theme</vt:lpstr>
      <vt:lpstr>Python Basics</vt:lpstr>
      <vt:lpstr>Python Print Statement</vt:lpstr>
      <vt:lpstr>Python print() with end Parameter</vt:lpstr>
      <vt:lpstr>print() with sep parameter</vt:lpstr>
      <vt:lpstr>Example: Print Python Variables and Literals </vt:lpstr>
      <vt:lpstr>Print Concatenated Strings </vt:lpstr>
      <vt:lpstr>Python User Input </vt:lpstr>
      <vt:lpstr>Data Type</vt:lpstr>
      <vt:lpstr>Example: Python if Statement</vt:lpstr>
      <vt:lpstr>Find the greatest roll number among 5 roll Numbers</vt:lpstr>
      <vt:lpstr>PowerPoint Presentation</vt:lpstr>
      <vt:lpstr>PowerPoint Presentation</vt:lpstr>
      <vt:lpstr>Functions</vt:lpstr>
      <vt:lpstr>Functions</vt:lpstr>
      <vt:lpstr>Modules</vt:lpstr>
      <vt:lpstr>palindrome</vt:lpstr>
      <vt:lpstr>For loop</vt:lpstr>
      <vt:lpstr>While loop</vt:lpstr>
      <vt:lpstr>Loop Control Statements</vt:lpstr>
      <vt:lpstr>Nested for loops </vt:lpstr>
      <vt:lpstr>PowerPoint Presentation</vt:lpstr>
      <vt:lpstr>1st Artificial Intelligence game</vt:lpstr>
      <vt:lpstr>PowerPoint Presentation</vt:lpstr>
      <vt:lpstr>PowerPoint Presentation</vt:lpstr>
      <vt:lpstr>List Data Structure</vt:lpstr>
      <vt:lpstr>PowerPoint Presentation</vt:lpstr>
      <vt:lpstr>Sorting list with built in method</vt:lpstr>
      <vt:lpstr>Creating a List of strings and accessing  using index</vt:lpstr>
      <vt:lpstr>Multi-Dimensional List</vt:lpstr>
      <vt:lpstr>PowerPoint Presentation</vt:lpstr>
      <vt:lpstr>Knowing the size of List</vt:lpstr>
      <vt:lpstr>Addition of elements in a List</vt:lpstr>
      <vt:lpstr>Filling list with loop and Addition of a Tuple </vt:lpstr>
      <vt:lpstr>Addition of 2 lists</vt:lpstr>
      <vt:lpstr>Linear search</vt:lpstr>
      <vt:lpstr>Liner search in list</vt:lpstr>
      <vt:lpstr>Dictionary in python</vt:lpstr>
      <vt:lpstr>Dictionary Operations</vt:lpstr>
      <vt:lpstr>NumPy</vt:lpstr>
      <vt:lpstr>Arithmetic operations  </vt:lpstr>
      <vt:lpstr>Dot Product</vt:lpstr>
      <vt:lpstr>Finding Mean</vt:lpstr>
      <vt:lpstr>Standard Deviation</vt:lpstr>
      <vt:lpstr>Minimum Value</vt:lpstr>
      <vt:lpstr>Maximum value</vt:lpstr>
      <vt:lpstr>Comparison</vt:lpstr>
      <vt:lpstr>Plotting x and y points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Draw the given Graph</vt:lpstr>
      <vt:lpstr>PowerPoint Presentation</vt:lpstr>
      <vt:lpstr>Plotting x and y points</vt:lpstr>
      <vt:lpstr>More Expressive Graph</vt:lpstr>
      <vt:lpstr>Plotting Without Line </vt:lpstr>
      <vt:lpstr>Plot 2 lines in a graph </vt:lpstr>
      <vt:lpstr>Draw a Graph without Array</vt:lpstr>
      <vt:lpstr># Adding title and labels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CUI</dc:creator>
  <cp:lastModifiedBy>Fahad Amin</cp:lastModifiedBy>
  <cp:revision>91</cp:revision>
  <dcterms:created xsi:type="dcterms:W3CDTF">2024-07-30T08:45:24Z</dcterms:created>
  <dcterms:modified xsi:type="dcterms:W3CDTF">2026-02-19T08:22:25Z</dcterms:modified>
</cp:coreProperties>
</file>