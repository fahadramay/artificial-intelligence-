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60" r:id="rId5"/>
    <p:sldId id="263" r:id="rId6"/>
    <p:sldId id="264" r:id="rId7"/>
    <p:sldId id="283" r:id="rId8"/>
    <p:sldId id="265" r:id="rId9"/>
    <p:sldId id="290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284" r:id="rId20"/>
    <p:sldId id="285" r:id="rId21"/>
    <p:sldId id="287" r:id="rId22"/>
    <p:sldId id="274" r:id="rId23"/>
    <p:sldId id="275" r:id="rId24"/>
    <p:sldId id="277" r:id="rId25"/>
    <p:sldId id="276" r:id="rId26"/>
    <p:sldId id="292" r:id="rId27"/>
    <p:sldId id="294" r:id="rId28"/>
    <p:sldId id="293" r:id="rId29"/>
    <p:sldId id="295" r:id="rId30"/>
    <p:sldId id="296" r:id="rId31"/>
    <p:sldId id="261" r:id="rId32"/>
    <p:sldId id="262" r:id="rId33"/>
    <p:sldId id="266" r:id="rId34"/>
    <p:sldId id="306" r:id="rId35"/>
    <p:sldId id="268" r:id="rId36"/>
    <p:sldId id="269" r:id="rId37"/>
    <p:sldId id="270" r:id="rId38"/>
    <p:sldId id="271" r:id="rId39"/>
    <p:sldId id="272" r:id="rId40"/>
    <p:sldId id="273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B92E1-C26E-432D-B23D-0AE57CA3311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9AE97-2240-4214-976B-CF9A51DA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057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9AE97-2240-4214-976B-CF9A51DA7E2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52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75EC9-267F-40E4-80A8-745A58E61E3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37F84-C38C-4DAF-9F82-EAE1C2F35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508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75EC9-267F-40E4-80A8-745A58E61E3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37F84-C38C-4DAF-9F82-EAE1C2F35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195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75EC9-267F-40E4-80A8-745A58E61E3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37F84-C38C-4DAF-9F82-EAE1C2F35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775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75EC9-267F-40E4-80A8-745A58E61E3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37F84-C38C-4DAF-9F82-EAE1C2F35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162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75EC9-267F-40E4-80A8-745A58E61E3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37F84-C38C-4DAF-9F82-EAE1C2F35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052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75EC9-267F-40E4-80A8-745A58E61E3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37F84-C38C-4DAF-9F82-EAE1C2F35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79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75EC9-267F-40E4-80A8-745A58E61E3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37F84-C38C-4DAF-9F82-EAE1C2F35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668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75EC9-267F-40E4-80A8-745A58E61E3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37F84-C38C-4DAF-9F82-EAE1C2F35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70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75EC9-267F-40E4-80A8-745A58E61E3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37F84-C38C-4DAF-9F82-EAE1C2F35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064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75EC9-267F-40E4-80A8-745A58E61E3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37F84-C38C-4DAF-9F82-EAE1C2F35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911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75EC9-267F-40E4-80A8-745A58E61E3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37F84-C38C-4DAF-9F82-EAE1C2F35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032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75EC9-267F-40E4-80A8-745A58E61E3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37F84-C38C-4DAF-9F82-EAE1C2F35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958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Ai Vision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29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484" y="1873772"/>
            <a:ext cx="10515600" cy="545367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To install pip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Update pip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Installing jupyter Notebook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85800" y="2433553"/>
            <a:ext cx="10479206" cy="274406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python get-pip.py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85800" y="3542145"/>
            <a:ext cx="10479206" cy="274406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python -m pip install --upgrade pip</a:t>
            </a: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01722" y="4463408"/>
            <a:ext cx="10463284" cy="274406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python -m pip install jupyter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01721" y="5395088"/>
            <a:ext cx="13300881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python -m notebook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947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install python 3.11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Microsoft store or </a:t>
            </a:r>
            <a:r>
              <a:rPr lang="en-US" dirty="0" err="1" smtClean="0"/>
              <a:t>pyweb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548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Vision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install </a:t>
            </a:r>
            <a:br>
              <a:rPr lang="en-US" dirty="0"/>
            </a:br>
            <a:r>
              <a:rPr lang="en-US" alt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pip install </a:t>
            </a:r>
            <a:r>
              <a:rPr lang="en-US" altLang="en-US" sz="2400" b="1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opencv</a:t>
            </a:r>
            <a:r>
              <a:rPr lang="en-US" altLang="en-US" sz="24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-python</a:t>
            </a:r>
            <a:endParaRPr lang="en-US" altLang="en-US" sz="2000" b="1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latin typeface="Consolas" panose="020B0609020204030204" pitchFamily="49" charset="0"/>
              </a:rPr>
              <a:t>Access image</a:t>
            </a:r>
          </a:p>
          <a:p>
            <a:pPr marL="0" indent="0">
              <a:buNone/>
            </a:pPr>
            <a:r>
              <a:rPr lang="en-US" sz="2000" dirty="0" smtClean="0">
                <a:latin typeface="Consolas" panose="020B0609020204030204" pitchFamily="49" charset="0"/>
              </a:rPr>
              <a:t>Cv2.imread</a:t>
            </a:r>
          </a:p>
          <a:p>
            <a:pPr marL="0" indent="0">
              <a:buNone/>
            </a:pPr>
            <a:r>
              <a:rPr lang="en-US" sz="2000" dirty="0" smtClean="0">
                <a:latin typeface="Consolas" panose="020B0609020204030204" pitchFamily="49" charset="0"/>
              </a:rPr>
              <a:t>Cv2.imshow</a:t>
            </a:r>
          </a:p>
          <a:p>
            <a:r>
              <a:rPr lang="en-US" dirty="0" smtClean="0">
                <a:latin typeface="Consolas" panose="020B0609020204030204" pitchFamily="49" charset="0"/>
              </a:rPr>
              <a:t>Gray Scale image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46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an Image: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image = cv2.imread('b.jpg')</a:t>
            </a:r>
          </a:p>
        </p:txBody>
      </p:sp>
    </p:spTree>
    <p:extLst>
      <p:ext uri="{BB962C8B-B14F-4D97-AF65-F5344CB8AC3E}">
        <p14:creationId xmlns:p14="http://schemas.microsoft.com/office/powerpoint/2010/main" val="2705191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 for Image Loading: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</a:t>
            </a:r>
            <a:r>
              <a:rPr lang="en-US" dirty="0"/>
              <a:t>image is None: </a:t>
            </a:r>
            <a:endParaRPr lang="en-US" dirty="0" smtClean="0"/>
          </a:p>
          <a:p>
            <a:r>
              <a:rPr lang="en-US" dirty="0" smtClean="0"/>
              <a:t>print</a:t>
            </a:r>
            <a:r>
              <a:rPr lang="en-US" dirty="0"/>
              <a:t>("Error: Could not load image. Please check the file path</a:t>
            </a:r>
            <a:r>
              <a:rPr lang="en-US" dirty="0" smtClean="0"/>
              <a:t>.")</a:t>
            </a:r>
          </a:p>
          <a:p>
            <a:r>
              <a:rPr lang="en-US" dirty="0" smtClean="0"/>
              <a:t> </a:t>
            </a:r>
            <a:r>
              <a:rPr lang="en-US" dirty="0"/>
              <a:t>exit()</a:t>
            </a:r>
          </a:p>
        </p:txBody>
      </p:sp>
    </p:spTree>
    <p:extLst>
      <p:ext uri="{BB962C8B-B14F-4D97-AF65-F5344CB8AC3E}">
        <p14:creationId xmlns:p14="http://schemas.microsoft.com/office/powerpoint/2010/main" val="2259562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Convert into Gray scale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import cv2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image </a:t>
            </a:r>
            <a:r>
              <a:rPr lang="en-US" dirty="0">
                <a:solidFill>
                  <a:srgbClr val="FF0000"/>
                </a:solidFill>
              </a:rPr>
              <a:t>= cv2.imread('a.jpg',0) 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cv2.imshow</a:t>
            </a:r>
            <a:r>
              <a:rPr lang="en-US" dirty="0"/>
              <a:t>('</a:t>
            </a:r>
            <a:r>
              <a:rPr lang="en-US" dirty="0" err="1"/>
              <a:t>window_name</a:t>
            </a:r>
            <a:r>
              <a:rPr lang="en-US" dirty="0"/>
              <a:t>', image)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cv2.waitKey(0) </a:t>
            </a:r>
          </a:p>
          <a:p>
            <a:pPr marL="0" indent="0">
              <a:buNone/>
            </a:pPr>
            <a:r>
              <a:rPr lang="en-US" dirty="0" smtClean="0"/>
              <a:t>cv2.destroyAllWindows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607174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Image to Grayscale: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gray_image</a:t>
            </a:r>
            <a:r>
              <a:rPr lang="en-US" dirty="0"/>
              <a:t> = cv2.cvtColor(image, cv2.COLOR_BGR2GRAY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669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Resize an image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244" y="1852921"/>
            <a:ext cx="10515600" cy="435133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smtClean="0"/>
              <a:t>cv2</a:t>
            </a:r>
          </a:p>
          <a:p>
            <a:pPr marL="0" indent="0">
              <a:buNone/>
            </a:pPr>
            <a:r>
              <a:rPr lang="en-US" dirty="0" err="1" smtClean="0"/>
              <a:t>img</a:t>
            </a:r>
            <a:r>
              <a:rPr lang="en-US" dirty="0" smtClean="0"/>
              <a:t> </a:t>
            </a:r>
            <a:r>
              <a:rPr lang="en-US" dirty="0"/>
              <a:t>= cv2.imread('a.jpg</a:t>
            </a:r>
            <a:r>
              <a:rPr lang="en-US" dirty="0" smtClean="0"/>
              <a:t>')</a:t>
            </a:r>
          </a:p>
          <a:p>
            <a:pPr marL="0" indent="0">
              <a:buNone/>
            </a:pPr>
            <a:r>
              <a:rPr lang="en-US" dirty="0" err="1" smtClean="0"/>
              <a:t>desired_size</a:t>
            </a:r>
            <a:r>
              <a:rPr lang="en-US" dirty="0" smtClean="0"/>
              <a:t> </a:t>
            </a:r>
            <a:r>
              <a:rPr lang="en-US" dirty="0"/>
              <a:t>= (200, 400)  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resized_img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= </a:t>
            </a:r>
            <a:r>
              <a:rPr lang="en-US" dirty="0" smtClean="0">
                <a:solidFill>
                  <a:srgbClr val="FF0000"/>
                </a:solidFill>
              </a:rPr>
              <a:t>cv2.resize(</a:t>
            </a:r>
            <a:r>
              <a:rPr lang="en-US" dirty="0" err="1" smtClean="0">
                <a:solidFill>
                  <a:srgbClr val="FF0000"/>
                </a:solidFill>
              </a:rPr>
              <a:t>img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desired_size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 smtClean="0"/>
              <a:t>cv2.imshow</a:t>
            </a:r>
            <a:r>
              <a:rPr lang="en-US" dirty="0"/>
              <a:t>('Resized Image', </a:t>
            </a:r>
            <a:r>
              <a:rPr lang="en-US" dirty="0" err="1"/>
              <a:t>resized_img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 cv2.waitKey(0)</a:t>
            </a:r>
          </a:p>
          <a:p>
            <a:pPr marL="0" indent="0">
              <a:buNone/>
            </a:pPr>
            <a:r>
              <a:rPr lang="en-US" dirty="0" smtClean="0"/>
              <a:t>cv2.destroyAllWindows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30377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92791" y="1171291"/>
            <a:ext cx="929623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Draw the Line: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cv2.line(image, (50, 50), (400, 400), (0, 255, 0), 5)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Draws a line on the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image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(50, 50)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Starting point of the line.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(400, 400)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Ending point of the line.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(0, 255, 0)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Green color in BGR format.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5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Thickness of the line.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790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 Line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import cv2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Load an image</a:t>
            </a:r>
          </a:p>
          <a:p>
            <a:pPr marL="0" indent="0">
              <a:buNone/>
            </a:pPr>
            <a:r>
              <a:rPr lang="en-US" dirty="0"/>
              <a:t>image = cv2.imread('a.jpg')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Draw a line on the image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cv2.line(image, (50, 50), (400, 400), (0, 255, 0), 5)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Display the image</a:t>
            </a:r>
          </a:p>
          <a:p>
            <a:pPr marL="0" indent="0">
              <a:buNone/>
            </a:pPr>
            <a:r>
              <a:rPr lang="en-US" dirty="0"/>
              <a:t>cv2.imshow('Line', image)</a:t>
            </a:r>
          </a:p>
          <a:p>
            <a:pPr marL="0" indent="0">
              <a:buNone/>
            </a:pPr>
            <a:r>
              <a:rPr lang="en-US" dirty="0"/>
              <a:t>cv2.waitKey(0)</a:t>
            </a:r>
          </a:p>
          <a:p>
            <a:pPr marL="0" indent="0">
              <a:buNone/>
            </a:pPr>
            <a:r>
              <a:rPr lang="en-US" dirty="0"/>
              <a:t>cv2.destroyAllWindows()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50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011867"/>
            <a:ext cx="10107304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Draw the Circle: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cv2.circle(image, (250, 250), 100, (0, 255, 0), 2)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Draws a circle on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image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(250, 250)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Coordinates for the center of the circle.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100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Radius of the circle.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(0, 255, 0)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Green color in BGR format.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2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Thickness of the circle’s outline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673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 Circle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import cv2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Create a blank image</a:t>
            </a:r>
          </a:p>
          <a:p>
            <a:pPr marL="0" indent="0">
              <a:buNone/>
            </a:pPr>
            <a:r>
              <a:rPr lang="en-US" dirty="0"/>
              <a:t>image = cv2.imread('a.jpg')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Draw a circle on the image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cv2.circle(image, (250, 250), 100, (0, 255, 0), 2)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Display the image</a:t>
            </a:r>
          </a:p>
          <a:p>
            <a:pPr marL="0" indent="0">
              <a:buNone/>
            </a:pPr>
            <a:r>
              <a:rPr lang="en-US" dirty="0"/>
              <a:t>cv2.imshow('Circle', image)</a:t>
            </a:r>
          </a:p>
          <a:p>
            <a:pPr marL="0" indent="0">
              <a:buNone/>
            </a:pPr>
            <a:r>
              <a:rPr lang="en-US" dirty="0"/>
              <a:t>cv2.waitKey(0)</a:t>
            </a:r>
          </a:p>
          <a:p>
            <a:pPr marL="0" indent="0">
              <a:buNone/>
            </a:pPr>
            <a:r>
              <a:rPr lang="en-US" dirty="0"/>
              <a:t>cv2.destroyAllWindows()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387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 Rectangle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29018" y="1772783"/>
            <a:ext cx="9856160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Rectangle Parameters: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start_point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top-left corner of the rectangle.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end_point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bottom-right corner of the rectangle.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color: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color of the rectangle’s border.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thickness: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thickness of the rectangle’s border.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you want a filled rectangle, you can set this to 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</a:rPr>
              <a:t>-1</a:t>
            </a: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.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574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7849" y="0"/>
            <a:ext cx="10515600" cy="1325563"/>
          </a:xfrm>
        </p:spPr>
        <p:txBody>
          <a:bodyPr/>
          <a:lstStyle/>
          <a:p>
            <a:r>
              <a:rPr lang="en-US" dirty="0"/>
              <a:t>cv2.rectangle()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81043" y="1139904"/>
            <a:ext cx="11732765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image</a:t>
            </a:r>
            <a:r>
              <a:rPr kumimoji="0" lang="en-US" altLang="en-US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image on which you want to draw the rectangle.</a:t>
            </a:r>
            <a:endParaRPr kumimoji="0" lang="en-US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(x, y)</a:t>
            </a:r>
            <a:r>
              <a:rPr kumimoji="0" lang="en-US" altLang="en-US" sz="4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This tuple represents the coordinates of the top-left corner of the rectangle.</a:t>
            </a:r>
            <a:endParaRPr kumimoji="0" lang="en-US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x+w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,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y+h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)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This tuple represents the coordinates of the bottom-right corner of the rectangle.</a:t>
            </a:r>
            <a:endParaRPr kumimoji="0" lang="en-US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(0, 255, 0)</a:t>
            </a: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This tuple represents the color of the rectangle in BGR format. 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Here,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(0, 255, 0)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corresponds to green color.</a:t>
            </a:r>
            <a:endParaRPr kumimoji="0" lang="en-US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2</a:t>
            </a: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This integer represents the thickness of the rectangle's border. Here,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2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means the border will be 2 pixels thick</a:t>
            </a: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4813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 Rectangle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import cv2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</a:t>
            </a:r>
            <a:r>
              <a:rPr lang="en-US" dirty="0" smtClean="0"/>
              <a:t>np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image = cv2.imread('a.jpg</a:t>
            </a:r>
            <a:r>
              <a:rPr lang="en-US" dirty="0" smtClean="0"/>
              <a:t>')</a:t>
            </a:r>
            <a:endParaRPr lang="en-US" dirty="0"/>
          </a:p>
          <a:p>
            <a:pPr marL="0" indent="0">
              <a:buNone/>
            </a:pPr>
            <a:r>
              <a:rPr lang="en-US" dirty="0" err="1" smtClean="0"/>
              <a:t>start_point</a:t>
            </a:r>
            <a:r>
              <a:rPr lang="en-US" dirty="0" smtClean="0"/>
              <a:t> </a:t>
            </a:r>
            <a:r>
              <a:rPr lang="en-US" dirty="0"/>
              <a:t>= (500, 500)  # (x, y) coordinates for the top-left corner</a:t>
            </a:r>
          </a:p>
          <a:p>
            <a:pPr marL="0" indent="0">
              <a:buNone/>
            </a:pPr>
            <a:r>
              <a:rPr lang="en-US" dirty="0" err="1"/>
              <a:t>end_point</a:t>
            </a:r>
            <a:r>
              <a:rPr lang="en-US" dirty="0"/>
              <a:t> = (2000, 1500)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color </a:t>
            </a:r>
            <a:r>
              <a:rPr lang="en-US" dirty="0"/>
              <a:t>= (255, 0, 0</a:t>
            </a:r>
            <a:r>
              <a:rPr lang="en-US" dirty="0" smtClean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thickness = 8</a:t>
            </a:r>
            <a:r>
              <a:rPr lang="en-US" dirty="0" smtClean="0"/>
              <a:t>            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 Draw the rectangle on the image</a:t>
            </a:r>
          </a:p>
          <a:p>
            <a:pPr marL="0" indent="0">
              <a:buNone/>
            </a:pPr>
            <a:r>
              <a:rPr lang="en-US" dirty="0" err="1" smtClean="0">
                <a:solidFill>
                  <a:schemeClr val="accent1"/>
                </a:solidFill>
              </a:rPr>
              <a:t>image_with_rectangle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= cv2.rectangle(image, </a:t>
            </a:r>
            <a:r>
              <a:rPr lang="en-US" dirty="0" err="1">
                <a:solidFill>
                  <a:schemeClr val="accent1"/>
                </a:solidFill>
              </a:rPr>
              <a:t>start_point</a:t>
            </a:r>
            <a:r>
              <a:rPr lang="en-US" dirty="0">
                <a:solidFill>
                  <a:schemeClr val="accent1"/>
                </a:solidFill>
              </a:rPr>
              <a:t>, </a:t>
            </a:r>
            <a:r>
              <a:rPr lang="en-US" dirty="0" err="1">
                <a:solidFill>
                  <a:schemeClr val="accent1"/>
                </a:solidFill>
              </a:rPr>
              <a:t>end_point</a:t>
            </a:r>
            <a:r>
              <a:rPr lang="en-US" dirty="0">
                <a:solidFill>
                  <a:schemeClr val="accent1"/>
                </a:solidFill>
              </a:rPr>
              <a:t>, color, thickness</a:t>
            </a:r>
            <a:r>
              <a:rPr lang="en-US" dirty="0" smtClean="0">
                <a:solidFill>
                  <a:schemeClr val="accent1"/>
                </a:solidFill>
              </a:rPr>
              <a:t>)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 smtClean="0"/>
              <a:t>cv2.imshow</a:t>
            </a:r>
            <a:r>
              <a:rPr lang="en-US" dirty="0"/>
              <a:t>('Image with Rectangle', </a:t>
            </a:r>
            <a:r>
              <a:rPr lang="en-US" dirty="0" err="1"/>
              <a:t>image_with_rectangle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cv2.waitKey(0)</a:t>
            </a:r>
          </a:p>
          <a:p>
            <a:pPr marL="0" indent="0">
              <a:buNone/>
            </a:pPr>
            <a:r>
              <a:rPr lang="en-US" dirty="0"/>
              <a:t>cv2.destroyAllWindows()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33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:Rotate an Image ?</a:t>
            </a:r>
            <a:endParaRPr lang="en-US" dirty="0"/>
          </a:p>
        </p:txBody>
      </p:sp>
      <p:sp>
        <p:nvSpPr>
          <p:cNvPr id="4" name="Action Button: Home 3">
            <a:hlinkClick r:id="" action="ppaction://hlinkshowjump?jump=firstslide" highlightClick="1"/>
          </p:cNvPr>
          <p:cNvSpPr/>
          <p:nvPr/>
        </p:nvSpPr>
        <p:spPr>
          <a:xfrm>
            <a:off x="1937981" y="2579426"/>
            <a:ext cx="2251882" cy="2317623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ction Button: Home 4">
            <a:hlinkClick r:id="" action="ppaction://hlinkshowjump?jump=firstslide" highlightClick="1"/>
          </p:cNvPr>
          <p:cNvSpPr/>
          <p:nvPr/>
        </p:nvSpPr>
        <p:spPr>
          <a:xfrm rot="5400000">
            <a:off x="5095273" y="2513920"/>
            <a:ext cx="2317622" cy="2448637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914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PNG file of image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</a:t>
            </a:r>
            <a:r>
              <a:rPr lang="en-US" dirty="0" smtClean="0"/>
              <a:t>np</a:t>
            </a:r>
          </a:p>
          <a:p>
            <a:pPr marL="0" indent="0">
              <a:buNone/>
            </a:pPr>
            <a:r>
              <a:rPr lang="en-US" dirty="0" smtClean="0"/>
              <a:t>import cv2</a:t>
            </a:r>
          </a:p>
          <a:p>
            <a:pPr marL="0" indent="0">
              <a:buNone/>
            </a:pPr>
            <a:r>
              <a:rPr lang="en-US" dirty="0" smtClean="0"/>
              <a:t>image=cv2.imread</a:t>
            </a:r>
            <a:r>
              <a:rPr lang="en-US" dirty="0"/>
              <a:t>('a.jpg</a:t>
            </a:r>
            <a:r>
              <a:rPr lang="en-US" dirty="0" smtClean="0"/>
              <a:t>')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1"/>
                </a:solidFill>
              </a:rPr>
              <a:t>image=cv2.imwrite</a:t>
            </a:r>
            <a:r>
              <a:rPr lang="en-US" dirty="0">
                <a:solidFill>
                  <a:schemeClr val="accent1"/>
                </a:solidFill>
              </a:rPr>
              <a:t>('ab.</a:t>
            </a:r>
            <a:r>
              <a:rPr lang="en-US" dirty="0" err="1">
                <a:solidFill>
                  <a:schemeClr val="accent1"/>
                </a:solidFill>
              </a:rPr>
              <a:t>png</a:t>
            </a:r>
            <a:r>
              <a:rPr lang="en-US" dirty="0">
                <a:solidFill>
                  <a:schemeClr val="accent1"/>
                </a:solidFill>
              </a:rPr>
              <a:t>',image</a:t>
            </a:r>
            <a:r>
              <a:rPr lang="en-US" dirty="0" smtClean="0">
                <a:solidFill>
                  <a:schemeClr val="accent1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 smtClean="0"/>
              <a:t>cv2.imshow</a:t>
            </a:r>
            <a:r>
              <a:rPr lang="en-US" dirty="0"/>
              <a:t>('</a:t>
            </a:r>
            <a:r>
              <a:rPr lang="en-US" dirty="0" err="1"/>
              <a:t>output',image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cv2.waitKey(0</a:t>
            </a:r>
            <a:r>
              <a:rPr lang="en-US" dirty="0"/>
              <a:t>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cv2.destroyAllWindows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59850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Guassian</a:t>
            </a:r>
            <a:r>
              <a:rPr lang="en-US" dirty="0" smtClean="0"/>
              <a:t> Blur filter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Libraries</a:t>
            </a:r>
            <a:r>
              <a:rPr lang="en-US" dirty="0" smtClean="0"/>
              <a:t>:</a:t>
            </a:r>
          </a:p>
          <a:p>
            <a:r>
              <a:rPr lang="en-US" dirty="0"/>
              <a:t>Load an </a:t>
            </a:r>
            <a:r>
              <a:rPr lang="en-US" dirty="0" smtClean="0"/>
              <a:t>Image</a:t>
            </a:r>
          </a:p>
          <a:p>
            <a:r>
              <a:rPr lang="en-US" dirty="0"/>
              <a:t>Define the Kernel </a:t>
            </a:r>
            <a:r>
              <a:rPr lang="en-US" dirty="0" smtClean="0"/>
              <a:t>Size</a:t>
            </a:r>
          </a:p>
          <a:p>
            <a:r>
              <a:rPr lang="en-US" dirty="0"/>
              <a:t>Apply Gaussian </a:t>
            </a:r>
            <a:r>
              <a:rPr lang="en-US" dirty="0" smtClean="0"/>
              <a:t>Blur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blurred_image</a:t>
            </a:r>
            <a:r>
              <a:rPr lang="en-US" dirty="0">
                <a:solidFill>
                  <a:srgbClr val="FF0000"/>
                </a:solidFill>
              </a:rPr>
              <a:t> = cv2.GaussianBlur(image, </a:t>
            </a:r>
            <a:r>
              <a:rPr lang="en-US" dirty="0" err="1">
                <a:solidFill>
                  <a:srgbClr val="FF0000"/>
                </a:solidFill>
              </a:rPr>
              <a:t>kernel_size</a:t>
            </a:r>
            <a:r>
              <a:rPr lang="en-US" dirty="0">
                <a:solidFill>
                  <a:srgbClr val="FF0000"/>
                </a:solidFill>
              </a:rPr>
              <a:t>, 0)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994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Guassian</a:t>
            </a:r>
            <a:r>
              <a:rPr lang="en-US" dirty="0" smtClean="0"/>
              <a:t> Blur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import cv2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</a:t>
            </a:r>
            <a:r>
              <a:rPr lang="en-US" dirty="0" smtClean="0"/>
              <a:t>np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image = cv2.imread('a.jpg</a:t>
            </a:r>
            <a:r>
              <a:rPr lang="en-US" dirty="0" smtClean="0"/>
              <a:t>')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Define the kernel size (must be positive and odd)</a:t>
            </a:r>
          </a:p>
          <a:p>
            <a:pPr marL="0" indent="0">
              <a:buNone/>
            </a:pPr>
            <a:r>
              <a:rPr lang="en-US" dirty="0" err="1"/>
              <a:t>kernel_size</a:t>
            </a:r>
            <a:r>
              <a:rPr lang="en-US" dirty="0"/>
              <a:t> = (21, 21</a:t>
            </a:r>
            <a:r>
              <a:rPr lang="en-US" dirty="0" smtClean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Apply Gaussian blur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blurred_image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= cv2.GaussianBlur(image,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kernel_size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0)</a:t>
            </a:r>
          </a:p>
          <a:p>
            <a:pPr marL="0" indent="0">
              <a:buNone/>
            </a:pPr>
            <a:r>
              <a:rPr lang="en-US" dirty="0" smtClean="0"/>
              <a:t>cv2.imshow</a:t>
            </a:r>
            <a:r>
              <a:rPr lang="en-US" dirty="0"/>
              <a:t>('Image', image)</a:t>
            </a:r>
          </a:p>
          <a:p>
            <a:pPr marL="0" indent="0">
              <a:buNone/>
            </a:pPr>
            <a:r>
              <a:rPr lang="en-US" dirty="0"/>
              <a:t>cv2.imshow('Blurred Image', </a:t>
            </a:r>
            <a:r>
              <a:rPr lang="en-US" dirty="0" err="1"/>
              <a:t>blurred_image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cv2.waitKey(0)</a:t>
            </a:r>
          </a:p>
          <a:p>
            <a:pPr marL="0" indent="0">
              <a:buNone/>
            </a:pPr>
            <a:r>
              <a:rPr lang="en-US" dirty="0"/>
              <a:t>cv2.destroyAllWindows()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41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Median blur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smtClean="0"/>
              <a:t>cv2</a:t>
            </a:r>
          </a:p>
          <a:p>
            <a:pPr marL="0" indent="0">
              <a:buNone/>
            </a:pPr>
            <a:r>
              <a:rPr lang="en-US" dirty="0" smtClean="0"/>
              <a:t>import </a:t>
            </a:r>
            <a:r>
              <a:rPr lang="en-US" dirty="0" err="1"/>
              <a:t>numpy</a:t>
            </a:r>
            <a:r>
              <a:rPr lang="en-US" dirty="0"/>
              <a:t> as </a:t>
            </a:r>
            <a:r>
              <a:rPr lang="en-US" dirty="0" smtClean="0"/>
              <a:t>np</a:t>
            </a:r>
          </a:p>
          <a:p>
            <a:pPr marL="0" indent="0">
              <a:buNone/>
            </a:pPr>
            <a:r>
              <a:rPr lang="en-US" dirty="0" smtClean="0"/>
              <a:t>image </a:t>
            </a:r>
            <a:r>
              <a:rPr lang="en-US" dirty="0"/>
              <a:t>= cv2.imread('b.jpg</a:t>
            </a:r>
            <a:r>
              <a:rPr lang="en-US" dirty="0" smtClean="0"/>
              <a:t>')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kernel_size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9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 </a:t>
            </a:r>
            <a:r>
              <a:rPr lang="en-US" dirty="0">
                <a:solidFill>
                  <a:srgbClr val="FF0000"/>
                </a:solidFill>
              </a:rPr>
              <a:t>Apply median </a:t>
            </a:r>
            <a:r>
              <a:rPr lang="en-US" dirty="0" smtClean="0">
                <a:solidFill>
                  <a:srgbClr val="FF0000"/>
                </a:solidFill>
              </a:rPr>
              <a:t>blur</a:t>
            </a:r>
          </a:p>
          <a:p>
            <a:pPr marL="0" indent="0">
              <a:buNone/>
            </a:pP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blurred_image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= cv2.medianBlur(image,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kernel_size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 smtClean="0"/>
              <a:t>cv2.imshow</a:t>
            </a:r>
            <a:r>
              <a:rPr lang="en-US" dirty="0"/>
              <a:t>('Blurred Image', </a:t>
            </a:r>
            <a:r>
              <a:rPr lang="en-US" dirty="0" err="1"/>
              <a:t>blurred_image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cv2.imshow</a:t>
            </a:r>
            <a:r>
              <a:rPr lang="en-US" dirty="0"/>
              <a:t>('Image', image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cv2.waitKey(0)</a:t>
            </a:r>
          </a:p>
          <a:p>
            <a:pPr marL="0" indent="0">
              <a:buNone/>
            </a:pPr>
            <a:r>
              <a:rPr lang="en-US" dirty="0" smtClean="0"/>
              <a:t>cv2.destroyAllWindows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6745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  <a:latin typeface="Arial Unicode MS" panose="020B0604020202020204" pitchFamily="34" charset="-128"/>
              </a:rPr>
              <a:t>cv2.THRESH_BINARY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04800" y="2084775"/>
            <a:ext cx="1070780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cv2.THRESH_BINARY</a:t>
            </a: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applies binary thresholding: pixels above the threshold are set to the maximum value, and those below are set to 0. </a:t>
            </a:r>
            <a:endParaRPr kumimoji="0" lang="en-US" altLang="en-US" sz="6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86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Image thresholding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import cv2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import </a:t>
            </a:r>
            <a:r>
              <a:rPr lang="en-US" dirty="0" err="1"/>
              <a:t>numpy</a:t>
            </a:r>
            <a:r>
              <a:rPr lang="en-US" dirty="0"/>
              <a:t> as np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image </a:t>
            </a:r>
            <a:r>
              <a:rPr lang="en-US" dirty="0"/>
              <a:t>= cv2.imread('a.jpg',0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threshold_value</a:t>
            </a:r>
            <a:r>
              <a:rPr lang="en-US" dirty="0" smtClean="0"/>
              <a:t> </a:t>
            </a:r>
            <a:r>
              <a:rPr lang="en-US" dirty="0"/>
              <a:t>= 117 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max_value</a:t>
            </a:r>
            <a:r>
              <a:rPr lang="en-US" dirty="0" smtClean="0"/>
              <a:t> </a:t>
            </a:r>
            <a:r>
              <a:rPr lang="en-US" dirty="0"/>
              <a:t>= 255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_,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binary_image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= cv2.threshold(image,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threshold_value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max_value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cv2.THRESH_BINARY) </a:t>
            </a:r>
            <a:endParaRPr lang="en-US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 smtClean="0"/>
              <a:t>cv2.imshow</a:t>
            </a:r>
            <a:r>
              <a:rPr lang="en-US" dirty="0"/>
              <a:t>('Binary Image', </a:t>
            </a:r>
            <a:r>
              <a:rPr lang="en-US" dirty="0" err="1"/>
              <a:t>binary_image</a:t>
            </a:r>
            <a:r>
              <a:rPr lang="en-US" dirty="0"/>
              <a:t>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cv2.waitKey(0</a:t>
            </a:r>
            <a:r>
              <a:rPr lang="en-US" dirty="0"/>
              <a:t>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cv2.destroyAllWindows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52731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Canny Edge Detection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 the Image to Grayscale</a:t>
            </a:r>
            <a:r>
              <a:rPr lang="en-US" dirty="0" smtClean="0"/>
              <a:t>:</a:t>
            </a:r>
          </a:p>
          <a:p>
            <a:r>
              <a:rPr lang="en-US" dirty="0"/>
              <a:t>Set Threshold Values</a:t>
            </a:r>
            <a:r>
              <a:rPr lang="en-US" dirty="0" smtClean="0"/>
              <a:t>:</a:t>
            </a:r>
          </a:p>
          <a:p>
            <a:r>
              <a:rPr lang="en-US" dirty="0"/>
              <a:t>Apply Canny Edge Detection</a:t>
            </a:r>
            <a:r>
              <a:rPr lang="en-US" dirty="0" smtClean="0"/>
              <a:t>:</a:t>
            </a:r>
          </a:p>
          <a:p>
            <a:r>
              <a:rPr lang="en-US" dirty="0"/>
              <a:t>Display the Original and Edge-Detected Images:</a:t>
            </a:r>
          </a:p>
        </p:txBody>
      </p:sp>
    </p:spTree>
    <p:extLst>
      <p:ext uri="{BB962C8B-B14F-4D97-AF65-F5344CB8AC3E}">
        <p14:creationId xmlns:p14="http://schemas.microsoft.com/office/powerpoint/2010/main" val="411551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Canny edge detection using intensity </a:t>
            </a:r>
            <a:r>
              <a:rPr lang="en-US" dirty="0" err="1"/>
              <a:t>gradien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1254"/>
            <a:ext cx="10816988" cy="515885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import cv2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</a:t>
            </a:r>
            <a:r>
              <a:rPr lang="en-US" dirty="0" smtClean="0"/>
              <a:t>np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image </a:t>
            </a:r>
            <a:r>
              <a:rPr lang="en-US" dirty="0"/>
              <a:t>= cv2.imread('a.jpg</a:t>
            </a:r>
            <a:r>
              <a:rPr lang="en-US" dirty="0" smtClean="0"/>
              <a:t>')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if </a:t>
            </a:r>
            <a:r>
              <a:rPr lang="en-US" dirty="0"/>
              <a:t>image is None:</a:t>
            </a:r>
          </a:p>
          <a:p>
            <a:pPr marL="0" indent="0">
              <a:buNone/>
            </a:pPr>
            <a:r>
              <a:rPr lang="en-US" dirty="0"/>
              <a:t>    print("Error: Image not found or cannot be loaded.")</a:t>
            </a:r>
          </a:p>
          <a:p>
            <a:pPr marL="0" indent="0">
              <a:buNone/>
            </a:pPr>
            <a:r>
              <a:rPr lang="en-US" dirty="0"/>
              <a:t>else:</a:t>
            </a:r>
          </a:p>
          <a:p>
            <a:pPr marL="0" indent="0">
              <a:buNone/>
            </a:pPr>
            <a:r>
              <a:rPr lang="en-US" dirty="0" err="1" smtClean="0"/>
              <a:t>gray_image</a:t>
            </a:r>
            <a:r>
              <a:rPr lang="en-US" dirty="0" smtClean="0"/>
              <a:t> </a:t>
            </a:r>
            <a:r>
              <a:rPr lang="en-US" dirty="0"/>
              <a:t>= cv2.cvtColor(image, cv2.COLOR_BGR2GRAY</a:t>
            </a:r>
            <a:r>
              <a:rPr lang="en-US" dirty="0" smtClean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 err="1" smtClean="0"/>
              <a:t>lower_threshold</a:t>
            </a:r>
            <a:r>
              <a:rPr lang="en-US" dirty="0" smtClean="0"/>
              <a:t> </a:t>
            </a:r>
            <a:r>
              <a:rPr lang="en-US" dirty="0"/>
              <a:t>= 50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upper_threshold</a:t>
            </a:r>
            <a:r>
              <a:rPr lang="en-US" dirty="0"/>
              <a:t> = 150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edges = cv2.Canny(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gray_image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lower_threshold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upper_threshold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 smtClean="0"/>
              <a:t>cv2.imshow</a:t>
            </a:r>
            <a:r>
              <a:rPr lang="en-US" dirty="0"/>
              <a:t>('Original Image', image)</a:t>
            </a:r>
          </a:p>
          <a:p>
            <a:pPr marL="0" indent="0">
              <a:buNone/>
            </a:pPr>
            <a:r>
              <a:rPr lang="en-US" dirty="0"/>
              <a:t>    cv2.imshow('Edge Image', edges)</a:t>
            </a:r>
          </a:p>
          <a:p>
            <a:pPr marL="0" indent="0">
              <a:buNone/>
            </a:pPr>
            <a:r>
              <a:rPr lang="en-US" dirty="0"/>
              <a:t>    cv2.waitKey(0)</a:t>
            </a:r>
          </a:p>
          <a:p>
            <a:pPr marL="0" indent="0">
              <a:buNone/>
            </a:pPr>
            <a:r>
              <a:rPr lang="en-US" dirty="0"/>
              <a:t>    cv2.destroyAllWindows</a:t>
            </a:r>
            <a:r>
              <a:rPr lang="en-US" dirty="0" smtClean="0"/>
              <a:t>()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479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Shift image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Libraries</a:t>
            </a:r>
            <a:r>
              <a:rPr lang="en-US" dirty="0" smtClean="0"/>
              <a:t>:</a:t>
            </a:r>
          </a:p>
          <a:p>
            <a:r>
              <a:rPr lang="en-US" dirty="0"/>
              <a:t>Load the </a:t>
            </a:r>
            <a:r>
              <a:rPr lang="en-US" dirty="0" smtClean="0"/>
              <a:t>Image</a:t>
            </a:r>
          </a:p>
          <a:p>
            <a:r>
              <a:rPr lang="en-US" dirty="0"/>
              <a:t>Define the Shift </a:t>
            </a:r>
            <a:r>
              <a:rPr lang="en-US" dirty="0" smtClean="0"/>
              <a:t>Value</a:t>
            </a:r>
          </a:p>
          <a:p>
            <a:r>
              <a:rPr lang="en-US" dirty="0"/>
              <a:t>Create the Translation </a:t>
            </a:r>
            <a:r>
              <a:rPr lang="en-US" dirty="0" smtClean="0"/>
              <a:t>Matrix</a:t>
            </a:r>
          </a:p>
          <a:p>
            <a:r>
              <a:rPr lang="en-US" dirty="0"/>
              <a:t>Apply the Translation</a:t>
            </a:r>
          </a:p>
        </p:txBody>
      </p:sp>
    </p:spTree>
    <p:extLst>
      <p:ext uri="{BB962C8B-B14F-4D97-AF65-F5344CB8AC3E}">
        <p14:creationId xmlns:p14="http://schemas.microsoft.com/office/powerpoint/2010/main" val="418518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323658"/>
            <a:ext cx="11879406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[1, 0,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shift_x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]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The x-axis scaling factor (no scaling).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0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The x-axis rotation factor (no rotation).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shift_x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The amount by which to shift the image horizontally.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[0, 1, 0]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0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The y-axis scaling factor (no scaling).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The y-axis rotation factor (no rotation).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0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The amount by which to shift the image vertically (no shift).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410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Shift image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import cv2</a:t>
            </a:r>
          </a:p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</a:t>
            </a:r>
            <a:r>
              <a:rPr lang="en-US" dirty="0" smtClean="0"/>
              <a:t>np</a:t>
            </a:r>
            <a:endParaRPr lang="en-US" dirty="0"/>
          </a:p>
          <a:p>
            <a:r>
              <a:rPr lang="en-US" dirty="0"/>
              <a:t>image = cv2.imread('a.jpg</a:t>
            </a:r>
            <a:r>
              <a:rPr lang="en-US" dirty="0" smtClean="0"/>
              <a:t>')</a:t>
            </a:r>
            <a:endParaRPr lang="en-US" dirty="0"/>
          </a:p>
          <a:p>
            <a:r>
              <a:rPr lang="en-US" dirty="0" err="1" smtClean="0"/>
              <a:t>shift_x</a:t>
            </a:r>
            <a:r>
              <a:rPr lang="en-US" dirty="0" smtClean="0"/>
              <a:t> </a:t>
            </a:r>
            <a:r>
              <a:rPr lang="en-US" dirty="0"/>
              <a:t>= 100 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Create </a:t>
            </a:r>
            <a:r>
              <a:rPr lang="en-US" dirty="0">
                <a:solidFill>
                  <a:srgbClr val="FF0000"/>
                </a:solidFill>
              </a:rPr>
              <a:t>the translation matrix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translation_matrix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= np.float32([[1, 0,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shift_x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],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[0, 1,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0]])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Apply </a:t>
            </a:r>
            <a:r>
              <a:rPr lang="en-US" dirty="0">
                <a:solidFill>
                  <a:srgbClr val="FF0000"/>
                </a:solidFill>
              </a:rPr>
              <a:t>the translation to the image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shifted_image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= cv2.warpAffine(image,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translation_matrix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(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image.shape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[1],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image.shape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[0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]))</a:t>
            </a:r>
          </a:p>
          <a:p>
            <a:r>
              <a:rPr lang="en-US" dirty="0" smtClean="0"/>
              <a:t>cv2.imshow</a:t>
            </a:r>
            <a:r>
              <a:rPr lang="en-US" dirty="0"/>
              <a:t>('Shifted Image', </a:t>
            </a:r>
            <a:r>
              <a:rPr lang="en-US" dirty="0" err="1"/>
              <a:t>shifted_image</a:t>
            </a:r>
            <a:r>
              <a:rPr lang="en-US" dirty="0"/>
              <a:t>)</a:t>
            </a:r>
          </a:p>
          <a:p>
            <a:r>
              <a:rPr lang="en-US" dirty="0"/>
              <a:t>cv2.waitKey(0)</a:t>
            </a:r>
          </a:p>
          <a:p>
            <a:r>
              <a:rPr lang="en-US" dirty="0"/>
              <a:t>cv2.destroyAllWindows()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5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on image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Import libraries</a:t>
            </a:r>
          </a:p>
          <a:p>
            <a:r>
              <a:rPr lang="en-US" dirty="0" smtClean="0"/>
              <a:t>Load image</a:t>
            </a:r>
          </a:p>
          <a:p>
            <a:r>
              <a:rPr lang="en-US" dirty="0" smtClean="0"/>
              <a:t>Define parameters</a:t>
            </a:r>
          </a:p>
          <a:p>
            <a:r>
              <a:rPr lang="en-US" dirty="0" smtClean="0"/>
              <a:t>Display image with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94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on image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import cv2</a:t>
            </a:r>
          </a:p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</a:t>
            </a:r>
            <a:r>
              <a:rPr lang="en-US" dirty="0" smtClean="0"/>
              <a:t>np</a:t>
            </a:r>
            <a:endParaRPr lang="en-US" dirty="0"/>
          </a:p>
          <a:p>
            <a:r>
              <a:rPr lang="en-US" dirty="0"/>
              <a:t>image = cv2.imread('a.jpg</a:t>
            </a:r>
            <a:r>
              <a:rPr lang="en-US" dirty="0" smtClean="0"/>
              <a:t>')</a:t>
            </a:r>
            <a:endParaRPr lang="en-US" dirty="0"/>
          </a:p>
          <a:p>
            <a:r>
              <a:rPr lang="en-US" dirty="0"/>
              <a:t>text = 'Hello, </a:t>
            </a:r>
            <a:r>
              <a:rPr lang="en-US" dirty="0" err="1"/>
              <a:t>Comsats</a:t>
            </a:r>
            <a:r>
              <a:rPr lang="en-US" dirty="0"/>
              <a:t>!'</a:t>
            </a:r>
          </a:p>
          <a:p>
            <a:r>
              <a:rPr lang="en-US" dirty="0"/>
              <a:t>position = (50, 100) </a:t>
            </a:r>
            <a:endParaRPr lang="en-US" dirty="0" smtClean="0"/>
          </a:p>
          <a:p>
            <a:r>
              <a:rPr lang="en-US" dirty="0" smtClean="0"/>
              <a:t>font </a:t>
            </a:r>
            <a:r>
              <a:rPr lang="en-US" dirty="0"/>
              <a:t>= cv2.FONT_HERSHEY_SIMPLEX</a:t>
            </a:r>
          </a:p>
          <a:p>
            <a:r>
              <a:rPr lang="en-US" dirty="0" err="1"/>
              <a:t>font_scale</a:t>
            </a:r>
            <a:r>
              <a:rPr lang="en-US" dirty="0"/>
              <a:t> = 5</a:t>
            </a:r>
          </a:p>
          <a:p>
            <a:r>
              <a:rPr lang="en-US" dirty="0"/>
              <a:t>color = (255, 255, 255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/>
              <a:t>thickness = </a:t>
            </a:r>
            <a:r>
              <a:rPr lang="en-US" dirty="0" smtClean="0"/>
              <a:t>2</a:t>
            </a:r>
            <a:endParaRPr lang="en-US" dirty="0"/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image_with_text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= cv2.putText(image, text, position, font,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font_scale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color, thickness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/>
              <a:t>cv2.imshow('Image with Text', </a:t>
            </a:r>
            <a:r>
              <a:rPr lang="en-US" dirty="0" err="1"/>
              <a:t>image_with_text</a:t>
            </a:r>
            <a:r>
              <a:rPr lang="en-US" dirty="0"/>
              <a:t>)</a:t>
            </a:r>
          </a:p>
          <a:p>
            <a:r>
              <a:rPr lang="en-US" dirty="0"/>
              <a:t>cv2.waitKey(0)</a:t>
            </a:r>
          </a:p>
          <a:p>
            <a:r>
              <a:rPr lang="en-US" dirty="0"/>
              <a:t>cv2.destroyAllWindows()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186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105469"/>
            <a:ext cx="10515600" cy="507149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To perform facial detection in an image using </a:t>
            </a:r>
            <a:r>
              <a:rPr lang="en-US" b="1" dirty="0" err="1"/>
              <a:t>OpenCV</a:t>
            </a:r>
            <a:r>
              <a:rPr lang="en-US" b="1" dirty="0"/>
              <a:t> with a </a:t>
            </a:r>
            <a:r>
              <a:rPr lang="en-US" b="1" dirty="0" err="1"/>
              <a:t>Haar</a:t>
            </a:r>
            <a:r>
              <a:rPr lang="en-US" b="1" dirty="0"/>
              <a:t> Cascade classifier, you'll follow these steps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Load the image.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Load the pre-trained </a:t>
            </a:r>
            <a:r>
              <a:rPr lang="en-US" dirty="0" err="1"/>
              <a:t>Haar</a:t>
            </a:r>
            <a:r>
              <a:rPr lang="en-US" dirty="0"/>
              <a:t> Cascade classifier for face detection.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Detect faces in the image using the classifier.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Draw rectangles around the detected faces.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Display the image with the detected faces.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Here's a small Python code snippet that demonstrates these steps: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694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</a:t>
            </a:r>
            <a:r>
              <a:rPr lang="en-US" dirty="0" err="1"/>
              <a:t>Haar</a:t>
            </a:r>
            <a:r>
              <a:rPr lang="en-US" dirty="0"/>
              <a:t> Cascade Classifier: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6129" y="2020503"/>
            <a:ext cx="1199974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cv2.CascadeClassifier()</a:t>
            </a:r>
            <a:r>
              <a:rPr kumimoji="0" lang="en-US" altLang="en-US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loads a pre-trained </a:t>
            </a:r>
            <a:r>
              <a:rPr kumimoji="0" lang="en-US" altLang="en-US" sz="3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Haar</a:t>
            </a:r>
            <a:r>
              <a:rPr kumimoji="0" lang="en-US" altLang="en-US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Cascade classifier from a specified XML file. This classifier is specifically trained for detecting frontal faces.</a:t>
            </a:r>
            <a:endParaRPr kumimoji="0" lang="en-US" altLang="en-US" sz="4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cv2.data.haarcascades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is a variable provided by </a:t>
            </a:r>
            <a:r>
              <a:rPr kumimoji="0" lang="en-US" altLang="en-US" sz="3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OpenCV</a:t>
            </a:r>
            <a:r>
              <a:rPr kumimoji="0" lang="en-US" altLang="en-US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that points to the directory where pre-trained </a:t>
            </a:r>
            <a:r>
              <a:rPr kumimoji="0" lang="en-US" altLang="en-US" sz="3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Haar</a:t>
            </a:r>
            <a:r>
              <a:rPr kumimoji="0" lang="en-US" altLang="en-US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Cascade files are located.</a:t>
            </a:r>
            <a:endParaRPr kumimoji="0" lang="en-US" altLang="en-US" sz="4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'haarcascade_frontalface_default.xml'</a:t>
            </a:r>
            <a:r>
              <a:rPr kumimoji="0" lang="en-US" altLang="en-US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is the XML file containing the trained data for detecting frontal faces.</a:t>
            </a:r>
            <a:r>
              <a:rPr kumimoji="0" lang="en-US" altLang="en-US" sz="4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93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Face Detection: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Bahnschrift Condensed" panose="020B0502040204020203" pitchFamily="34" charset="0"/>
              </a:rPr>
              <a:t>faces = </a:t>
            </a:r>
            <a:r>
              <a:rPr lang="en-US" dirty="0" err="1">
                <a:latin typeface="Bahnschrift Condensed" panose="020B0502040204020203" pitchFamily="34" charset="0"/>
              </a:rPr>
              <a:t>face_cascade.detectMultiScale</a:t>
            </a:r>
            <a:r>
              <a:rPr lang="en-US" dirty="0">
                <a:latin typeface="Bahnschrift Condensed" panose="020B0502040204020203" pitchFamily="34" charset="0"/>
              </a:rPr>
              <a:t>(</a:t>
            </a:r>
            <a:r>
              <a:rPr lang="en-US" dirty="0" err="1">
                <a:latin typeface="Bahnschrift Condensed" panose="020B0502040204020203" pitchFamily="34" charset="0"/>
              </a:rPr>
              <a:t>gray_image</a:t>
            </a:r>
            <a:r>
              <a:rPr lang="en-US" dirty="0">
                <a:latin typeface="Bahnschrift Condensed" panose="020B0502040204020203" pitchFamily="34" charset="0"/>
              </a:rPr>
              <a:t>, </a:t>
            </a:r>
            <a:r>
              <a:rPr lang="en-US" dirty="0" err="1">
                <a:latin typeface="Bahnschrift Condensed" panose="020B0502040204020203" pitchFamily="34" charset="0"/>
              </a:rPr>
              <a:t>scaleFactor</a:t>
            </a:r>
            <a:r>
              <a:rPr lang="en-US" dirty="0">
                <a:latin typeface="Bahnschrift Condensed" panose="020B0502040204020203" pitchFamily="34" charset="0"/>
              </a:rPr>
              <a:t>=1.1, </a:t>
            </a:r>
            <a:r>
              <a:rPr lang="en-US" dirty="0" err="1">
                <a:latin typeface="Bahnschrift Condensed" panose="020B0502040204020203" pitchFamily="34" charset="0"/>
              </a:rPr>
              <a:t>minNeighbors</a:t>
            </a:r>
            <a:r>
              <a:rPr lang="en-US" dirty="0">
                <a:latin typeface="Bahnschrift Condensed" panose="020B0502040204020203" pitchFamily="34" charset="0"/>
              </a:rPr>
              <a:t>=5, </a:t>
            </a:r>
            <a:r>
              <a:rPr lang="en-US" dirty="0" err="1">
                <a:latin typeface="Bahnschrift Condensed" panose="020B0502040204020203" pitchFamily="34" charset="0"/>
              </a:rPr>
              <a:t>minSize</a:t>
            </a:r>
            <a:r>
              <a:rPr lang="en-US" dirty="0">
                <a:latin typeface="Bahnschrift Condensed" panose="020B0502040204020203" pitchFamily="34" charset="0"/>
              </a:rPr>
              <a:t>=(30, 30</a:t>
            </a:r>
            <a:r>
              <a:rPr lang="en-US" dirty="0" smtClean="0">
                <a:latin typeface="Bahnschrift Condensed" panose="020B0502040204020203" pitchFamily="34" charset="0"/>
              </a:rPr>
              <a:t>))</a:t>
            </a:r>
          </a:p>
          <a:p>
            <a:pPr marL="0" indent="0">
              <a:buNone/>
            </a:pPr>
            <a:endParaRPr lang="en-US" dirty="0">
              <a:latin typeface="Bahnschrift Condensed" panose="020B0502040204020203" pitchFamily="34" charset="0"/>
            </a:endParaRPr>
          </a:p>
          <a:p>
            <a:r>
              <a:rPr lang="en-US" b="1" dirty="0" err="1" smtClean="0"/>
              <a:t>scaleFactor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r>
              <a:rPr lang="en-US" dirty="0"/>
              <a:t>Parameter specifying how much the image size is reduced at each image scale. It compensates for faces appearing smaller due to distance</a:t>
            </a:r>
            <a:endParaRPr lang="en-US" dirty="0" smtClean="0"/>
          </a:p>
          <a:p>
            <a:r>
              <a:rPr lang="en-US" b="1" dirty="0" err="1" smtClean="0"/>
              <a:t>minNeighbors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r>
              <a:rPr lang="en-US" dirty="0"/>
              <a:t>Parameter specifying how many neighbors each candidate rectangle should have to retain it. Higher values help reduce false detections.</a:t>
            </a:r>
            <a:endParaRPr lang="en-US" dirty="0" smtClean="0"/>
          </a:p>
          <a:p>
            <a:r>
              <a:rPr lang="en-US" b="1" dirty="0" err="1" smtClean="0"/>
              <a:t>minSize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r>
              <a:rPr lang="en-US" dirty="0"/>
              <a:t>Minimum possible object size. Objects smaller than this size are ignored</a:t>
            </a:r>
          </a:p>
        </p:txBody>
      </p:sp>
    </p:spTree>
    <p:extLst>
      <p:ext uri="{BB962C8B-B14F-4D97-AF65-F5344CB8AC3E}">
        <p14:creationId xmlns:p14="http://schemas.microsoft.com/office/powerpoint/2010/main" val="3676298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7947" t="27892" r="15134" b="903"/>
          <a:stretch/>
        </p:blipFill>
        <p:spPr>
          <a:xfrm>
            <a:off x="0" y="136477"/>
            <a:ext cx="11950586" cy="589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298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3961" t="20773" r="10440" b="15244"/>
          <a:stretch/>
        </p:blipFill>
        <p:spPr>
          <a:xfrm>
            <a:off x="0" y="0"/>
            <a:ext cx="12160155" cy="66684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4153620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450" t="20342" r="14719" b="17077"/>
          <a:stretch/>
        </p:blipFill>
        <p:spPr>
          <a:xfrm>
            <a:off x="0" y="226381"/>
            <a:ext cx="12064622" cy="635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70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of image using CNN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5251" t="37286" r="15905" b="34468"/>
          <a:stretch/>
        </p:blipFill>
        <p:spPr>
          <a:xfrm>
            <a:off x="0" y="1951630"/>
            <a:ext cx="11921529" cy="387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867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4364" t="54961" r="16084" b="26847"/>
          <a:stretch/>
        </p:blipFill>
        <p:spPr>
          <a:xfrm>
            <a:off x="150144" y="259309"/>
            <a:ext cx="10836304" cy="22366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34557" t="36549" r="9442" b="38364"/>
          <a:stretch/>
        </p:blipFill>
        <p:spPr>
          <a:xfrm>
            <a:off x="601131" y="2866028"/>
            <a:ext cx="11813110" cy="297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20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5070" t="27047" r="14497" b="47235"/>
          <a:stretch/>
        </p:blipFill>
        <p:spPr>
          <a:xfrm>
            <a:off x="0" y="0"/>
            <a:ext cx="12192000" cy="349561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34142" t="45769" r="15933" b="29542"/>
          <a:stretch/>
        </p:blipFill>
        <p:spPr>
          <a:xfrm>
            <a:off x="259308" y="3495610"/>
            <a:ext cx="11423176" cy="336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813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5949" t="39213" r="12571" b="38891"/>
          <a:stretch/>
        </p:blipFill>
        <p:spPr>
          <a:xfrm>
            <a:off x="341195" y="466524"/>
            <a:ext cx="11559654" cy="342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38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2753</TotalTime>
  <Words>1469</Words>
  <Application>Microsoft Office PowerPoint</Application>
  <PresentationFormat>Widescreen</PresentationFormat>
  <Paragraphs>253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 Unicode MS</vt:lpstr>
      <vt:lpstr>Arial</vt:lpstr>
      <vt:lpstr>Bahnschrift Condensed</vt:lpstr>
      <vt:lpstr>Calibri</vt:lpstr>
      <vt:lpstr>Calibri Light</vt:lpstr>
      <vt:lpstr>Consolas</vt:lpstr>
      <vt:lpstr>inherit</vt:lpstr>
      <vt:lpstr>Wingdings</vt:lpstr>
      <vt:lpstr>Office Theme</vt:lpstr>
      <vt:lpstr>Ai Vision</vt:lpstr>
      <vt:lpstr>PowerPoint Presentation</vt:lpstr>
      <vt:lpstr>To install python 3.11</vt:lpstr>
      <vt:lpstr>Computer Vision Library</vt:lpstr>
      <vt:lpstr>Loading an Image:</vt:lpstr>
      <vt:lpstr>Error Handling for Image Loading:</vt:lpstr>
      <vt:lpstr>Convert into Gray scale</vt:lpstr>
      <vt:lpstr>Converting Image to Grayscale:</vt:lpstr>
      <vt:lpstr>Resize an image</vt:lpstr>
      <vt:lpstr>PowerPoint Presentation</vt:lpstr>
      <vt:lpstr>Draw Line </vt:lpstr>
      <vt:lpstr>PowerPoint Presentation</vt:lpstr>
      <vt:lpstr>Draw Circle</vt:lpstr>
      <vt:lpstr>Draw Rectangle</vt:lpstr>
      <vt:lpstr>cv2.rectangle()</vt:lpstr>
      <vt:lpstr>Draw Rectangle</vt:lpstr>
      <vt:lpstr>Lab Task :Rotate an Image ?</vt:lpstr>
      <vt:lpstr>Create PNG file of image</vt:lpstr>
      <vt:lpstr>Guassian Blur filter</vt:lpstr>
      <vt:lpstr>Guassian Blur</vt:lpstr>
      <vt:lpstr>Median blur</vt:lpstr>
      <vt:lpstr>cv2.THRESH_BINARY</vt:lpstr>
      <vt:lpstr>Image thresholding</vt:lpstr>
      <vt:lpstr>Canny Edge Detection</vt:lpstr>
      <vt:lpstr>Canny edge detection using intensity gradien</vt:lpstr>
      <vt:lpstr>Shift image </vt:lpstr>
      <vt:lpstr>PowerPoint Presentation</vt:lpstr>
      <vt:lpstr>Shift image </vt:lpstr>
      <vt:lpstr>Text on image</vt:lpstr>
      <vt:lpstr>Text on image</vt:lpstr>
      <vt:lpstr>PowerPoint Presentation</vt:lpstr>
      <vt:lpstr>Loading Haar Cascade Classifier:</vt:lpstr>
      <vt:lpstr>Face Detection:</vt:lpstr>
      <vt:lpstr>PowerPoint Presentation</vt:lpstr>
      <vt:lpstr>PowerPoint Presentation</vt:lpstr>
      <vt:lpstr>PowerPoint Presentation</vt:lpstr>
      <vt:lpstr>Classification of image using CNN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CUI</dc:creator>
  <cp:lastModifiedBy>Microsoft account</cp:lastModifiedBy>
  <cp:revision>45</cp:revision>
  <dcterms:created xsi:type="dcterms:W3CDTF">2024-07-08T07:10:53Z</dcterms:created>
  <dcterms:modified xsi:type="dcterms:W3CDTF">2025-10-03T07:19:41Z</dcterms:modified>
</cp:coreProperties>
</file>